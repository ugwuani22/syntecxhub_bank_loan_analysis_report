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58" r:id="rId4"/>
    <p:sldId id="262" r:id="rId5"/>
    <p:sldId id="263" r:id="rId6"/>
    <p:sldId id="265" r:id="rId7"/>
    <p:sldId id="276" r:id="rId8"/>
    <p:sldId id="280" r:id="rId9"/>
    <p:sldId id="270" r:id="rId10"/>
    <p:sldId id="279" r:id="rId11"/>
    <p:sldId id="283" r:id="rId12"/>
    <p:sldId id="282" r:id="rId13"/>
    <p:sldId id="27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12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0" autoAdjust="0"/>
    <p:restoredTop sz="94660"/>
  </p:normalViewPr>
  <p:slideViewPr>
    <p:cSldViewPr snapToGrid="0">
      <p:cViewPr varScale="1">
        <p:scale>
          <a:sx n="76" d="100"/>
          <a:sy n="76" d="100"/>
        </p:scale>
        <p:origin x="132" y="10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AE23E-995E-4CBD-B5E0-41097615E2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CCE3D7-4288-42A6-9040-34A8CBD0B9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5A47A14-1A3B-4D65-8198-8128555414B2}"/>
              </a:ext>
            </a:extLst>
          </p:cNvPr>
          <p:cNvSpPr>
            <a:spLocks noGrp="1"/>
          </p:cNvSpPr>
          <p:nvPr>
            <p:ph type="dt" sz="half" idx="10"/>
          </p:nvPr>
        </p:nvSpPr>
        <p:spPr/>
        <p:txBody>
          <a:bodyPr/>
          <a:lstStyle/>
          <a:p>
            <a:fld id="{F2C607DF-E51C-4166-B69C-B71A64842B5D}" type="datetimeFigureOut">
              <a:rPr lang="en-US" smtClean="0"/>
              <a:t>6/26/2026</a:t>
            </a:fld>
            <a:endParaRPr lang="en-US"/>
          </a:p>
        </p:txBody>
      </p:sp>
      <p:sp>
        <p:nvSpPr>
          <p:cNvPr id="5" name="Footer Placeholder 4">
            <a:extLst>
              <a:ext uri="{FF2B5EF4-FFF2-40B4-BE49-F238E27FC236}">
                <a16:creationId xmlns:a16="http://schemas.microsoft.com/office/drawing/2014/main" id="{3268CE1F-A8B7-40B9-BDCD-82E0AC8C4F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D3A918-76EA-4904-8D0C-03A684F238CA}"/>
              </a:ext>
            </a:extLst>
          </p:cNvPr>
          <p:cNvSpPr>
            <a:spLocks noGrp="1"/>
          </p:cNvSpPr>
          <p:nvPr>
            <p:ph type="sldNum" sz="quarter" idx="12"/>
          </p:nvPr>
        </p:nvSpPr>
        <p:spPr/>
        <p:txBody>
          <a:bodyPr/>
          <a:lstStyle/>
          <a:p>
            <a:fld id="{10E5263C-0012-447D-8FB0-C74BA661662A}" type="slidenum">
              <a:rPr lang="en-US" smtClean="0"/>
              <a:t>‹#›</a:t>
            </a:fld>
            <a:endParaRPr lang="en-US"/>
          </a:p>
        </p:txBody>
      </p:sp>
    </p:spTree>
    <p:extLst>
      <p:ext uri="{BB962C8B-B14F-4D97-AF65-F5344CB8AC3E}">
        <p14:creationId xmlns:p14="http://schemas.microsoft.com/office/powerpoint/2010/main" val="602742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4B50D-D43F-4F92-BC6E-8E77639D38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DFED28-6F2F-4CB2-9997-3D6A5F60E2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A72D13-3A06-46EE-B7BC-2EAB1D8BD814}"/>
              </a:ext>
            </a:extLst>
          </p:cNvPr>
          <p:cNvSpPr>
            <a:spLocks noGrp="1"/>
          </p:cNvSpPr>
          <p:nvPr>
            <p:ph type="dt" sz="half" idx="10"/>
          </p:nvPr>
        </p:nvSpPr>
        <p:spPr/>
        <p:txBody>
          <a:bodyPr/>
          <a:lstStyle/>
          <a:p>
            <a:fld id="{F2C607DF-E51C-4166-B69C-B71A64842B5D}" type="datetimeFigureOut">
              <a:rPr lang="en-US" smtClean="0"/>
              <a:t>6/26/2026</a:t>
            </a:fld>
            <a:endParaRPr lang="en-US"/>
          </a:p>
        </p:txBody>
      </p:sp>
      <p:sp>
        <p:nvSpPr>
          <p:cNvPr id="5" name="Footer Placeholder 4">
            <a:extLst>
              <a:ext uri="{FF2B5EF4-FFF2-40B4-BE49-F238E27FC236}">
                <a16:creationId xmlns:a16="http://schemas.microsoft.com/office/drawing/2014/main" id="{F514A1DD-0F9E-465C-BD57-1C304322DC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FBD5C8-65CD-49FC-9E4A-322DCD0AA223}"/>
              </a:ext>
            </a:extLst>
          </p:cNvPr>
          <p:cNvSpPr>
            <a:spLocks noGrp="1"/>
          </p:cNvSpPr>
          <p:nvPr>
            <p:ph type="sldNum" sz="quarter" idx="12"/>
          </p:nvPr>
        </p:nvSpPr>
        <p:spPr/>
        <p:txBody>
          <a:bodyPr/>
          <a:lstStyle/>
          <a:p>
            <a:fld id="{10E5263C-0012-447D-8FB0-C74BA661662A}" type="slidenum">
              <a:rPr lang="en-US" smtClean="0"/>
              <a:t>‹#›</a:t>
            </a:fld>
            <a:endParaRPr lang="en-US"/>
          </a:p>
        </p:txBody>
      </p:sp>
    </p:spTree>
    <p:extLst>
      <p:ext uri="{BB962C8B-B14F-4D97-AF65-F5344CB8AC3E}">
        <p14:creationId xmlns:p14="http://schemas.microsoft.com/office/powerpoint/2010/main" val="3350095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F360F-0CBA-4A53-BCB4-FE7B3C7CF0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0650ACF-DF1B-4684-8701-A76DBDA365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008E27-B5BF-4020-A6FF-E3BE9B498F90}"/>
              </a:ext>
            </a:extLst>
          </p:cNvPr>
          <p:cNvSpPr>
            <a:spLocks noGrp="1"/>
          </p:cNvSpPr>
          <p:nvPr>
            <p:ph type="dt" sz="half" idx="10"/>
          </p:nvPr>
        </p:nvSpPr>
        <p:spPr/>
        <p:txBody>
          <a:bodyPr/>
          <a:lstStyle/>
          <a:p>
            <a:fld id="{F2C607DF-E51C-4166-B69C-B71A64842B5D}" type="datetimeFigureOut">
              <a:rPr lang="en-US" smtClean="0"/>
              <a:t>6/26/2026</a:t>
            </a:fld>
            <a:endParaRPr lang="en-US"/>
          </a:p>
        </p:txBody>
      </p:sp>
      <p:sp>
        <p:nvSpPr>
          <p:cNvPr id="5" name="Footer Placeholder 4">
            <a:extLst>
              <a:ext uri="{FF2B5EF4-FFF2-40B4-BE49-F238E27FC236}">
                <a16:creationId xmlns:a16="http://schemas.microsoft.com/office/drawing/2014/main" id="{6A5842D8-9D34-4293-89B4-91AAA92D0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2740AE-2125-4CC5-8BCD-E642EFF011CD}"/>
              </a:ext>
            </a:extLst>
          </p:cNvPr>
          <p:cNvSpPr>
            <a:spLocks noGrp="1"/>
          </p:cNvSpPr>
          <p:nvPr>
            <p:ph type="sldNum" sz="quarter" idx="12"/>
          </p:nvPr>
        </p:nvSpPr>
        <p:spPr/>
        <p:txBody>
          <a:bodyPr/>
          <a:lstStyle/>
          <a:p>
            <a:fld id="{10E5263C-0012-447D-8FB0-C74BA661662A}" type="slidenum">
              <a:rPr lang="en-US" smtClean="0"/>
              <a:t>‹#›</a:t>
            </a:fld>
            <a:endParaRPr lang="en-US"/>
          </a:p>
        </p:txBody>
      </p:sp>
    </p:spTree>
    <p:extLst>
      <p:ext uri="{BB962C8B-B14F-4D97-AF65-F5344CB8AC3E}">
        <p14:creationId xmlns:p14="http://schemas.microsoft.com/office/powerpoint/2010/main" val="3362339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286F2-703C-4683-8933-B7E90DE9C8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6F4357-B81E-47DB-B730-7557781434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569BD42-C367-4CA9-87D5-FEA069948A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8BB197-9F89-4785-8378-D6614B48E370}"/>
              </a:ext>
            </a:extLst>
          </p:cNvPr>
          <p:cNvSpPr>
            <a:spLocks noGrp="1"/>
          </p:cNvSpPr>
          <p:nvPr>
            <p:ph type="dt" sz="half" idx="10"/>
          </p:nvPr>
        </p:nvSpPr>
        <p:spPr/>
        <p:txBody>
          <a:bodyPr/>
          <a:lstStyle/>
          <a:p>
            <a:fld id="{F2C607DF-E51C-4166-B69C-B71A64842B5D}" type="datetimeFigureOut">
              <a:rPr lang="en-US" smtClean="0"/>
              <a:t>6/26/2026</a:t>
            </a:fld>
            <a:endParaRPr lang="en-US"/>
          </a:p>
        </p:txBody>
      </p:sp>
      <p:sp>
        <p:nvSpPr>
          <p:cNvPr id="6" name="Footer Placeholder 5">
            <a:extLst>
              <a:ext uri="{FF2B5EF4-FFF2-40B4-BE49-F238E27FC236}">
                <a16:creationId xmlns:a16="http://schemas.microsoft.com/office/drawing/2014/main" id="{EDE8145E-89B4-420F-AFD6-8ABBA21EED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A595F4-3CDA-464B-A0EA-8B0A50CDDCD4}"/>
              </a:ext>
            </a:extLst>
          </p:cNvPr>
          <p:cNvSpPr>
            <a:spLocks noGrp="1"/>
          </p:cNvSpPr>
          <p:nvPr>
            <p:ph type="sldNum" sz="quarter" idx="12"/>
          </p:nvPr>
        </p:nvSpPr>
        <p:spPr/>
        <p:txBody>
          <a:bodyPr/>
          <a:lstStyle/>
          <a:p>
            <a:fld id="{10E5263C-0012-447D-8FB0-C74BA661662A}" type="slidenum">
              <a:rPr lang="en-US" smtClean="0"/>
              <a:t>‹#›</a:t>
            </a:fld>
            <a:endParaRPr lang="en-US"/>
          </a:p>
        </p:txBody>
      </p:sp>
    </p:spTree>
    <p:extLst>
      <p:ext uri="{BB962C8B-B14F-4D97-AF65-F5344CB8AC3E}">
        <p14:creationId xmlns:p14="http://schemas.microsoft.com/office/powerpoint/2010/main" val="3153639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2203B-F237-478D-ACF1-87FDBAC20E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15AFBE-8873-411D-AAB2-B3FBFA3022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39CB41-0855-41A9-9548-B2DE2A5F37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C9A85C-328D-424C-926A-9574C49A24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61A753-74BA-4250-BD26-C0803889AB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221099-410B-4ECA-9D2B-BEE7688E0693}"/>
              </a:ext>
            </a:extLst>
          </p:cNvPr>
          <p:cNvSpPr>
            <a:spLocks noGrp="1"/>
          </p:cNvSpPr>
          <p:nvPr>
            <p:ph type="dt" sz="half" idx="10"/>
          </p:nvPr>
        </p:nvSpPr>
        <p:spPr/>
        <p:txBody>
          <a:bodyPr/>
          <a:lstStyle/>
          <a:p>
            <a:fld id="{F2C607DF-E51C-4166-B69C-B71A64842B5D}" type="datetimeFigureOut">
              <a:rPr lang="en-US" smtClean="0"/>
              <a:t>6/26/2026</a:t>
            </a:fld>
            <a:endParaRPr lang="en-US"/>
          </a:p>
        </p:txBody>
      </p:sp>
      <p:sp>
        <p:nvSpPr>
          <p:cNvPr id="8" name="Footer Placeholder 7">
            <a:extLst>
              <a:ext uri="{FF2B5EF4-FFF2-40B4-BE49-F238E27FC236}">
                <a16:creationId xmlns:a16="http://schemas.microsoft.com/office/drawing/2014/main" id="{229B7A19-EF7D-451E-862B-0A48E83A7A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BDB339-7728-446F-8736-98E8DAABCCAB}"/>
              </a:ext>
            </a:extLst>
          </p:cNvPr>
          <p:cNvSpPr>
            <a:spLocks noGrp="1"/>
          </p:cNvSpPr>
          <p:nvPr>
            <p:ph type="sldNum" sz="quarter" idx="12"/>
          </p:nvPr>
        </p:nvSpPr>
        <p:spPr/>
        <p:txBody>
          <a:bodyPr/>
          <a:lstStyle/>
          <a:p>
            <a:fld id="{10E5263C-0012-447D-8FB0-C74BA661662A}" type="slidenum">
              <a:rPr lang="en-US" smtClean="0"/>
              <a:t>‹#›</a:t>
            </a:fld>
            <a:endParaRPr lang="en-US"/>
          </a:p>
        </p:txBody>
      </p:sp>
    </p:spTree>
    <p:extLst>
      <p:ext uri="{BB962C8B-B14F-4D97-AF65-F5344CB8AC3E}">
        <p14:creationId xmlns:p14="http://schemas.microsoft.com/office/powerpoint/2010/main" val="1870059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642D6-9E04-4480-8C61-61357C1907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8CC6E9-7425-4E10-A831-76CE278CE7D3}"/>
              </a:ext>
            </a:extLst>
          </p:cNvPr>
          <p:cNvSpPr>
            <a:spLocks noGrp="1"/>
          </p:cNvSpPr>
          <p:nvPr>
            <p:ph type="dt" sz="half" idx="10"/>
          </p:nvPr>
        </p:nvSpPr>
        <p:spPr/>
        <p:txBody>
          <a:bodyPr/>
          <a:lstStyle/>
          <a:p>
            <a:fld id="{F2C607DF-E51C-4166-B69C-B71A64842B5D}" type="datetimeFigureOut">
              <a:rPr lang="en-US" smtClean="0"/>
              <a:t>6/26/2026</a:t>
            </a:fld>
            <a:endParaRPr lang="en-US"/>
          </a:p>
        </p:txBody>
      </p:sp>
      <p:sp>
        <p:nvSpPr>
          <p:cNvPr id="4" name="Footer Placeholder 3">
            <a:extLst>
              <a:ext uri="{FF2B5EF4-FFF2-40B4-BE49-F238E27FC236}">
                <a16:creationId xmlns:a16="http://schemas.microsoft.com/office/drawing/2014/main" id="{FD95239E-9F36-44B0-B314-808064C6F7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703AD7-8CCB-41F5-AFB6-8F24CB99AFBC}"/>
              </a:ext>
            </a:extLst>
          </p:cNvPr>
          <p:cNvSpPr>
            <a:spLocks noGrp="1"/>
          </p:cNvSpPr>
          <p:nvPr>
            <p:ph type="sldNum" sz="quarter" idx="12"/>
          </p:nvPr>
        </p:nvSpPr>
        <p:spPr/>
        <p:txBody>
          <a:bodyPr/>
          <a:lstStyle/>
          <a:p>
            <a:fld id="{10E5263C-0012-447D-8FB0-C74BA661662A}" type="slidenum">
              <a:rPr lang="en-US" smtClean="0"/>
              <a:t>‹#›</a:t>
            </a:fld>
            <a:endParaRPr lang="en-US"/>
          </a:p>
        </p:txBody>
      </p:sp>
    </p:spTree>
    <p:extLst>
      <p:ext uri="{BB962C8B-B14F-4D97-AF65-F5344CB8AC3E}">
        <p14:creationId xmlns:p14="http://schemas.microsoft.com/office/powerpoint/2010/main" val="3326740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42C43F-BEAF-4C5E-A378-61EE57B5D5B2}"/>
              </a:ext>
            </a:extLst>
          </p:cNvPr>
          <p:cNvSpPr>
            <a:spLocks noGrp="1"/>
          </p:cNvSpPr>
          <p:nvPr>
            <p:ph type="dt" sz="half" idx="10"/>
          </p:nvPr>
        </p:nvSpPr>
        <p:spPr/>
        <p:txBody>
          <a:bodyPr/>
          <a:lstStyle/>
          <a:p>
            <a:fld id="{F2C607DF-E51C-4166-B69C-B71A64842B5D}" type="datetimeFigureOut">
              <a:rPr lang="en-US" smtClean="0"/>
              <a:t>6/26/2026</a:t>
            </a:fld>
            <a:endParaRPr lang="en-US"/>
          </a:p>
        </p:txBody>
      </p:sp>
      <p:sp>
        <p:nvSpPr>
          <p:cNvPr id="3" name="Footer Placeholder 2">
            <a:extLst>
              <a:ext uri="{FF2B5EF4-FFF2-40B4-BE49-F238E27FC236}">
                <a16:creationId xmlns:a16="http://schemas.microsoft.com/office/drawing/2014/main" id="{5F8CA9F3-C88B-4EE4-A9FB-5938032386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3D15E8-033A-443B-86A9-B0FD472E5AD6}"/>
              </a:ext>
            </a:extLst>
          </p:cNvPr>
          <p:cNvSpPr>
            <a:spLocks noGrp="1"/>
          </p:cNvSpPr>
          <p:nvPr>
            <p:ph type="sldNum" sz="quarter" idx="12"/>
          </p:nvPr>
        </p:nvSpPr>
        <p:spPr/>
        <p:txBody>
          <a:bodyPr/>
          <a:lstStyle/>
          <a:p>
            <a:fld id="{10E5263C-0012-447D-8FB0-C74BA661662A}" type="slidenum">
              <a:rPr lang="en-US" smtClean="0"/>
              <a:t>‹#›</a:t>
            </a:fld>
            <a:endParaRPr lang="en-US"/>
          </a:p>
        </p:txBody>
      </p:sp>
    </p:spTree>
    <p:extLst>
      <p:ext uri="{BB962C8B-B14F-4D97-AF65-F5344CB8AC3E}">
        <p14:creationId xmlns:p14="http://schemas.microsoft.com/office/powerpoint/2010/main" val="4292405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53C28-C322-459F-9DB7-0E328CFFA8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0CF335-6325-48FD-94C8-87EA2BCCAD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D41A6B0-BB04-4FF1-87B5-CEC7D54BF2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96999E-42E0-4656-8332-122B2604323B}"/>
              </a:ext>
            </a:extLst>
          </p:cNvPr>
          <p:cNvSpPr>
            <a:spLocks noGrp="1"/>
          </p:cNvSpPr>
          <p:nvPr>
            <p:ph type="dt" sz="half" idx="10"/>
          </p:nvPr>
        </p:nvSpPr>
        <p:spPr/>
        <p:txBody>
          <a:bodyPr/>
          <a:lstStyle/>
          <a:p>
            <a:fld id="{F2C607DF-E51C-4166-B69C-B71A64842B5D}" type="datetimeFigureOut">
              <a:rPr lang="en-US" smtClean="0"/>
              <a:t>6/26/2026</a:t>
            </a:fld>
            <a:endParaRPr lang="en-US"/>
          </a:p>
        </p:txBody>
      </p:sp>
      <p:sp>
        <p:nvSpPr>
          <p:cNvPr id="6" name="Footer Placeholder 5">
            <a:extLst>
              <a:ext uri="{FF2B5EF4-FFF2-40B4-BE49-F238E27FC236}">
                <a16:creationId xmlns:a16="http://schemas.microsoft.com/office/drawing/2014/main" id="{56A339BE-E4E7-45DC-8A4F-07A25D9BD1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5F9C95-8A6D-4968-B6ED-79986C94AD9A}"/>
              </a:ext>
            </a:extLst>
          </p:cNvPr>
          <p:cNvSpPr>
            <a:spLocks noGrp="1"/>
          </p:cNvSpPr>
          <p:nvPr>
            <p:ph type="sldNum" sz="quarter" idx="12"/>
          </p:nvPr>
        </p:nvSpPr>
        <p:spPr/>
        <p:txBody>
          <a:bodyPr/>
          <a:lstStyle/>
          <a:p>
            <a:fld id="{10E5263C-0012-447D-8FB0-C74BA661662A}" type="slidenum">
              <a:rPr lang="en-US" smtClean="0"/>
              <a:t>‹#›</a:t>
            </a:fld>
            <a:endParaRPr lang="en-US"/>
          </a:p>
        </p:txBody>
      </p:sp>
    </p:spTree>
    <p:extLst>
      <p:ext uri="{BB962C8B-B14F-4D97-AF65-F5344CB8AC3E}">
        <p14:creationId xmlns:p14="http://schemas.microsoft.com/office/powerpoint/2010/main" val="545731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6CFC1-0192-4A70-A851-7E6344C983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0E1ED38-B691-490D-8290-052AF2933E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A7BAEA-B3BF-4B4A-AD26-7DC3D6C627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4CCF92-A7FA-41B7-95F7-4E293F88A493}"/>
              </a:ext>
            </a:extLst>
          </p:cNvPr>
          <p:cNvSpPr>
            <a:spLocks noGrp="1"/>
          </p:cNvSpPr>
          <p:nvPr>
            <p:ph type="dt" sz="half" idx="10"/>
          </p:nvPr>
        </p:nvSpPr>
        <p:spPr/>
        <p:txBody>
          <a:bodyPr/>
          <a:lstStyle/>
          <a:p>
            <a:fld id="{F2C607DF-E51C-4166-B69C-B71A64842B5D}" type="datetimeFigureOut">
              <a:rPr lang="en-US" smtClean="0"/>
              <a:t>6/26/2026</a:t>
            </a:fld>
            <a:endParaRPr lang="en-US"/>
          </a:p>
        </p:txBody>
      </p:sp>
      <p:sp>
        <p:nvSpPr>
          <p:cNvPr id="6" name="Footer Placeholder 5">
            <a:extLst>
              <a:ext uri="{FF2B5EF4-FFF2-40B4-BE49-F238E27FC236}">
                <a16:creationId xmlns:a16="http://schemas.microsoft.com/office/drawing/2014/main" id="{4CA2E1FB-717A-42D4-8D21-C1DA4212ED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907925-4579-4F04-8AEB-FD3C69AD69B4}"/>
              </a:ext>
            </a:extLst>
          </p:cNvPr>
          <p:cNvSpPr>
            <a:spLocks noGrp="1"/>
          </p:cNvSpPr>
          <p:nvPr>
            <p:ph type="sldNum" sz="quarter" idx="12"/>
          </p:nvPr>
        </p:nvSpPr>
        <p:spPr/>
        <p:txBody>
          <a:bodyPr/>
          <a:lstStyle/>
          <a:p>
            <a:fld id="{10E5263C-0012-447D-8FB0-C74BA661662A}" type="slidenum">
              <a:rPr lang="en-US" smtClean="0"/>
              <a:t>‹#›</a:t>
            </a:fld>
            <a:endParaRPr lang="en-US"/>
          </a:p>
        </p:txBody>
      </p:sp>
    </p:spTree>
    <p:extLst>
      <p:ext uri="{BB962C8B-B14F-4D97-AF65-F5344CB8AC3E}">
        <p14:creationId xmlns:p14="http://schemas.microsoft.com/office/powerpoint/2010/main" val="723687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85E60-D5E8-426A-A4BB-31E3C70C03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5C32482-7C56-4BE6-BB0A-B6C366CDA0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B1BF25-5E7E-461B-A94F-2C6966CE8C4A}"/>
              </a:ext>
            </a:extLst>
          </p:cNvPr>
          <p:cNvSpPr>
            <a:spLocks noGrp="1"/>
          </p:cNvSpPr>
          <p:nvPr>
            <p:ph type="dt" sz="half" idx="10"/>
          </p:nvPr>
        </p:nvSpPr>
        <p:spPr/>
        <p:txBody>
          <a:bodyPr/>
          <a:lstStyle/>
          <a:p>
            <a:fld id="{F2C607DF-E51C-4166-B69C-B71A64842B5D}" type="datetimeFigureOut">
              <a:rPr lang="en-US" smtClean="0"/>
              <a:t>6/26/2026</a:t>
            </a:fld>
            <a:endParaRPr lang="en-US"/>
          </a:p>
        </p:txBody>
      </p:sp>
      <p:sp>
        <p:nvSpPr>
          <p:cNvPr id="5" name="Footer Placeholder 4">
            <a:extLst>
              <a:ext uri="{FF2B5EF4-FFF2-40B4-BE49-F238E27FC236}">
                <a16:creationId xmlns:a16="http://schemas.microsoft.com/office/drawing/2014/main" id="{E3CA4FDF-B082-4C5C-8EF8-A8F968DF1C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EBA118-A54D-49A5-8DDB-72B237A62AEE}"/>
              </a:ext>
            </a:extLst>
          </p:cNvPr>
          <p:cNvSpPr>
            <a:spLocks noGrp="1"/>
          </p:cNvSpPr>
          <p:nvPr>
            <p:ph type="sldNum" sz="quarter" idx="12"/>
          </p:nvPr>
        </p:nvSpPr>
        <p:spPr/>
        <p:txBody>
          <a:bodyPr/>
          <a:lstStyle/>
          <a:p>
            <a:fld id="{10E5263C-0012-447D-8FB0-C74BA661662A}" type="slidenum">
              <a:rPr lang="en-US" smtClean="0"/>
              <a:t>‹#›</a:t>
            </a:fld>
            <a:endParaRPr lang="en-US"/>
          </a:p>
        </p:txBody>
      </p:sp>
    </p:spTree>
    <p:extLst>
      <p:ext uri="{BB962C8B-B14F-4D97-AF65-F5344CB8AC3E}">
        <p14:creationId xmlns:p14="http://schemas.microsoft.com/office/powerpoint/2010/main" val="93296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74FC95-3E68-4E2B-90D9-AB85C134F64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7FB8FE-6625-4E35-8BA2-9480A2942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27893B-C9E6-45ED-BAD0-810A00426A9E}"/>
              </a:ext>
            </a:extLst>
          </p:cNvPr>
          <p:cNvSpPr>
            <a:spLocks noGrp="1"/>
          </p:cNvSpPr>
          <p:nvPr>
            <p:ph type="dt" sz="half" idx="10"/>
          </p:nvPr>
        </p:nvSpPr>
        <p:spPr/>
        <p:txBody>
          <a:bodyPr/>
          <a:lstStyle/>
          <a:p>
            <a:fld id="{F2C607DF-E51C-4166-B69C-B71A64842B5D}" type="datetimeFigureOut">
              <a:rPr lang="en-US" smtClean="0"/>
              <a:t>6/26/2026</a:t>
            </a:fld>
            <a:endParaRPr lang="en-US"/>
          </a:p>
        </p:txBody>
      </p:sp>
      <p:sp>
        <p:nvSpPr>
          <p:cNvPr id="5" name="Footer Placeholder 4">
            <a:extLst>
              <a:ext uri="{FF2B5EF4-FFF2-40B4-BE49-F238E27FC236}">
                <a16:creationId xmlns:a16="http://schemas.microsoft.com/office/drawing/2014/main" id="{702E878D-4FD2-48E7-8027-F7112D3A53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08CBC-D1BE-4B1B-8E9F-F646C3606DE3}"/>
              </a:ext>
            </a:extLst>
          </p:cNvPr>
          <p:cNvSpPr>
            <a:spLocks noGrp="1"/>
          </p:cNvSpPr>
          <p:nvPr>
            <p:ph type="sldNum" sz="quarter" idx="12"/>
          </p:nvPr>
        </p:nvSpPr>
        <p:spPr/>
        <p:txBody>
          <a:bodyPr/>
          <a:lstStyle/>
          <a:p>
            <a:fld id="{10E5263C-0012-447D-8FB0-C74BA661662A}" type="slidenum">
              <a:rPr lang="en-US" smtClean="0"/>
              <a:t>‹#›</a:t>
            </a:fld>
            <a:endParaRPr lang="en-US"/>
          </a:p>
        </p:txBody>
      </p:sp>
    </p:spTree>
    <p:extLst>
      <p:ext uri="{BB962C8B-B14F-4D97-AF65-F5344CB8AC3E}">
        <p14:creationId xmlns:p14="http://schemas.microsoft.com/office/powerpoint/2010/main" val="735922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143C4D-E00B-44BB-BB2C-78A04525FC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D689D8-EDE1-4BA2-82A6-9FF1D1CA24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372A57-4262-407F-9525-94D619A103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C607DF-E51C-4166-B69C-B71A64842B5D}" type="datetimeFigureOut">
              <a:rPr lang="en-US" smtClean="0"/>
              <a:t>6/26/2026</a:t>
            </a:fld>
            <a:endParaRPr lang="en-US"/>
          </a:p>
        </p:txBody>
      </p:sp>
      <p:sp>
        <p:nvSpPr>
          <p:cNvPr id="5" name="Footer Placeholder 4">
            <a:extLst>
              <a:ext uri="{FF2B5EF4-FFF2-40B4-BE49-F238E27FC236}">
                <a16:creationId xmlns:a16="http://schemas.microsoft.com/office/drawing/2014/main" id="{699730F3-3101-4905-8F03-F8292B3AC1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F547413-6A26-4335-A187-D4CC9A8E21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E5263C-0012-447D-8FB0-C74BA661662A}" type="slidenum">
              <a:rPr lang="en-US" smtClean="0"/>
              <a:t>‹#›</a:t>
            </a:fld>
            <a:endParaRPr lang="en-US"/>
          </a:p>
        </p:txBody>
      </p:sp>
    </p:spTree>
    <p:extLst>
      <p:ext uri="{BB962C8B-B14F-4D97-AF65-F5344CB8AC3E}">
        <p14:creationId xmlns:p14="http://schemas.microsoft.com/office/powerpoint/2010/main" val="2176487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5.jp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Top Corners Rounded 3">
            <a:extLst>
              <a:ext uri="{FF2B5EF4-FFF2-40B4-BE49-F238E27FC236}">
                <a16:creationId xmlns:a16="http://schemas.microsoft.com/office/drawing/2014/main" id="{E2115137-B7D3-4551-BD88-EF98A2518DF1}"/>
              </a:ext>
            </a:extLst>
          </p:cNvPr>
          <p:cNvSpPr/>
          <p:nvPr/>
        </p:nvSpPr>
        <p:spPr>
          <a:xfrm>
            <a:off x="25400" y="2004932"/>
            <a:ext cx="12192000" cy="1752600"/>
          </a:xfrm>
          <a:prstGeom prst="round2Same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DB43067-DA4A-4615-B0D7-0294087C259B}"/>
              </a:ext>
            </a:extLst>
          </p:cNvPr>
          <p:cNvSpPr txBox="1"/>
          <p:nvPr/>
        </p:nvSpPr>
        <p:spPr>
          <a:xfrm>
            <a:off x="101600" y="2114672"/>
            <a:ext cx="11671300" cy="830997"/>
          </a:xfrm>
          <a:prstGeom prst="rect">
            <a:avLst/>
          </a:prstGeom>
          <a:noFill/>
        </p:spPr>
        <p:txBody>
          <a:bodyPr wrap="square" rtlCol="0">
            <a:spAutoFit/>
          </a:bodyPr>
          <a:lstStyle/>
          <a:p>
            <a:pPr algn="ctr"/>
            <a:r>
              <a:rPr lang="en-US" sz="2400" b="1" dirty="0">
                <a:solidFill>
                  <a:schemeClr val="bg1"/>
                </a:solidFill>
              </a:rPr>
              <a:t>This Analysis Assessed Bank Loan Analysis Dashboard.</a:t>
            </a:r>
            <a:endParaRPr lang="en-US" sz="2400" b="1" dirty="0">
              <a:solidFill>
                <a:schemeClr val="bg1"/>
              </a:solidFill>
              <a:latin typeface="Adobe Fan Heiti Std B" panose="020B0700000000000000" pitchFamily="34" charset="-128"/>
              <a:ea typeface="Adobe Fan Heiti Std B" panose="020B0700000000000000" pitchFamily="34" charset="-128"/>
            </a:endParaRPr>
          </a:p>
          <a:p>
            <a:pPr algn="ctr"/>
            <a:endParaRPr lang="en-US" sz="2400" b="1" dirty="0">
              <a:solidFill>
                <a:schemeClr val="bg1"/>
              </a:solidFill>
              <a:latin typeface="Adobe Fan Heiti Std B" panose="020B0700000000000000" pitchFamily="34" charset="-128"/>
              <a:ea typeface="Adobe Fan Heiti Std B" panose="020B0700000000000000" pitchFamily="34" charset="-128"/>
              <a:cs typeface="Times New Roman" panose="02020603050405020304" pitchFamily="18" charset="0"/>
            </a:endParaRPr>
          </a:p>
        </p:txBody>
      </p:sp>
      <p:sp>
        <p:nvSpPr>
          <p:cNvPr id="6" name="TextBox 5">
            <a:extLst>
              <a:ext uri="{FF2B5EF4-FFF2-40B4-BE49-F238E27FC236}">
                <a16:creationId xmlns:a16="http://schemas.microsoft.com/office/drawing/2014/main" id="{60F6B5A8-4D05-4683-BDCF-488063527ACC}"/>
              </a:ext>
            </a:extLst>
          </p:cNvPr>
          <p:cNvSpPr txBox="1"/>
          <p:nvPr/>
        </p:nvSpPr>
        <p:spPr>
          <a:xfrm>
            <a:off x="1796325" y="4139391"/>
            <a:ext cx="7759700" cy="523220"/>
          </a:xfrm>
          <a:prstGeom prst="rect">
            <a:avLst/>
          </a:prstGeom>
          <a:noFill/>
        </p:spPr>
        <p:txBody>
          <a:bodyPr wrap="square" rtlCol="0">
            <a:spAutoFit/>
          </a:bodyPr>
          <a:lstStyle/>
          <a:p>
            <a:pPr algn="ctr"/>
            <a:r>
              <a:rPr lang="en-US" sz="2800" b="1" dirty="0">
                <a:latin typeface="Adobe Kaiti Std R" panose="02020400000000000000" pitchFamily="18" charset="-128"/>
                <a:ea typeface="Adobe Kaiti Std R" panose="02020400000000000000" pitchFamily="18" charset="-128"/>
              </a:rPr>
              <a:t>Pharm. Ugwuani Joseph Chinonso </a:t>
            </a:r>
          </a:p>
        </p:txBody>
      </p:sp>
      <p:sp>
        <p:nvSpPr>
          <p:cNvPr id="7" name="TextBox 6">
            <a:extLst>
              <a:ext uri="{FF2B5EF4-FFF2-40B4-BE49-F238E27FC236}">
                <a16:creationId xmlns:a16="http://schemas.microsoft.com/office/drawing/2014/main" id="{3DFD4218-EEC2-4D54-A7B7-2D5D422B30C6}"/>
              </a:ext>
            </a:extLst>
          </p:cNvPr>
          <p:cNvSpPr txBox="1"/>
          <p:nvPr/>
        </p:nvSpPr>
        <p:spPr>
          <a:xfrm>
            <a:off x="1954213" y="5227311"/>
            <a:ext cx="7124700" cy="369332"/>
          </a:xfrm>
          <a:prstGeom prst="rect">
            <a:avLst/>
          </a:prstGeom>
          <a:noFill/>
        </p:spPr>
        <p:txBody>
          <a:bodyPr wrap="square" rtlCol="0">
            <a:spAutoFit/>
          </a:bodyPr>
          <a:lstStyle/>
          <a:p>
            <a:pPr algn="ctr"/>
            <a:r>
              <a:rPr lang="en-US" b="1" i="1" dirty="0"/>
              <a:t>A Personal Data Analytics Project. </a:t>
            </a:r>
          </a:p>
        </p:txBody>
      </p:sp>
      <p:cxnSp>
        <p:nvCxnSpPr>
          <p:cNvPr id="9" name="Straight Connector 8">
            <a:extLst>
              <a:ext uri="{FF2B5EF4-FFF2-40B4-BE49-F238E27FC236}">
                <a16:creationId xmlns:a16="http://schemas.microsoft.com/office/drawing/2014/main" id="{9239D588-C24C-4833-BCF8-ED099B31F4BC}"/>
              </a:ext>
            </a:extLst>
          </p:cNvPr>
          <p:cNvCxnSpPr>
            <a:cxnSpLocks/>
          </p:cNvCxnSpPr>
          <p:nvPr/>
        </p:nvCxnSpPr>
        <p:spPr>
          <a:xfrm>
            <a:off x="1028700" y="4859011"/>
            <a:ext cx="981710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1E70855-68DA-43E5-BC1A-90933CA961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3345" y="103630"/>
            <a:ext cx="1560156" cy="1560156"/>
          </a:xfrm>
          <a:prstGeom prst="rect">
            <a:avLst/>
          </a:prstGeom>
        </p:spPr>
      </p:pic>
    </p:spTree>
    <p:extLst>
      <p:ext uri="{BB962C8B-B14F-4D97-AF65-F5344CB8AC3E}">
        <p14:creationId xmlns:p14="http://schemas.microsoft.com/office/powerpoint/2010/main" val="67970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Top Corners Rounded 3">
            <a:extLst>
              <a:ext uri="{FF2B5EF4-FFF2-40B4-BE49-F238E27FC236}">
                <a16:creationId xmlns:a16="http://schemas.microsoft.com/office/drawing/2014/main" id="{E2115137-B7D3-4551-BD88-EF98A2518DF1}"/>
              </a:ext>
            </a:extLst>
          </p:cNvPr>
          <p:cNvSpPr/>
          <p:nvPr/>
        </p:nvSpPr>
        <p:spPr>
          <a:xfrm>
            <a:off x="0" y="544432"/>
            <a:ext cx="12192000" cy="1752600"/>
          </a:xfrm>
          <a:prstGeom prst="round2Same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9239D588-C24C-4833-BCF8-ED099B31F4BC}"/>
              </a:ext>
            </a:extLst>
          </p:cNvPr>
          <p:cNvCxnSpPr>
            <a:cxnSpLocks/>
          </p:cNvCxnSpPr>
          <p:nvPr/>
        </p:nvCxnSpPr>
        <p:spPr>
          <a:xfrm>
            <a:off x="1187450" y="6167111"/>
            <a:ext cx="981710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0B10806-63E6-4EB1-9E10-7FEBF66E08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5800" y="451872"/>
            <a:ext cx="4876800" cy="4894825"/>
          </a:xfrm>
          <a:prstGeom prst="ellipse">
            <a:avLst/>
          </a:prstGeom>
          <a:ln>
            <a:noFill/>
          </a:ln>
          <a:effectLst>
            <a:softEdge rad="112500"/>
          </a:effectLst>
        </p:spPr>
      </p:pic>
    </p:spTree>
    <p:extLst>
      <p:ext uri="{BB962C8B-B14F-4D97-AF65-F5344CB8AC3E}">
        <p14:creationId xmlns:p14="http://schemas.microsoft.com/office/powerpoint/2010/main" val="1026542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39D91-9C29-4803-BACE-4F5F97465C70}"/>
              </a:ext>
            </a:extLst>
          </p:cNvPr>
          <p:cNvSpPr>
            <a:spLocks noGrp="1"/>
          </p:cNvSpPr>
          <p:nvPr>
            <p:ph type="title"/>
          </p:nvPr>
        </p:nvSpPr>
        <p:spPr>
          <a:xfrm>
            <a:off x="330200" y="495300"/>
            <a:ext cx="5486400" cy="611188"/>
          </a:xfrm>
        </p:spPr>
        <p:txBody>
          <a:bodyPr>
            <a:normAutofit fontScale="90000"/>
          </a:bodyPr>
          <a:lstStyle/>
          <a:p>
            <a:r>
              <a:rPr lang="en-US" b="1" dirty="0"/>
              <a:t>Introduction</a:t>
            </a:r>
          </a:p>
        </p:txBody>
      </p:sp>
      <p:sp>
        <p:nvSpPr>
          <p:cNvPr id="4" name="Rectangle: Top Corners Rounded 3">
            <a:extLst>
              <a:ext uri="{FF2B5EF4-FFF2-40B4-BE49-F238E27FC236}">
                <a16:creationId xmlns:a16="http://schemas.microsoft.com/office/drawing/2014/main" id="{115B529C-32F3-42AF-9467-FB0680D843D6}"/>
              </a:ext>
            </a:extLst>
          </p:cNvPr>
          <p:cNvSpPr/>
          <p:nvPr/>
        </p:nvSpPr>
        <p:spPr>
          <a:xfrm>
            <a:off x="165100" y="1533000"/>
            <a:ext cx="11861800" cy="5147199"/>
          </a:xfrm>
          <a:prstGeom prst="round2SameRect">
            <a:avLst/>
          </a:prstGeom>
          <a:solidFill>
            <a:schemeClr val="accent1">
              <a:lumMod val="5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8D37A63-A251-415C-9D73-63C5EB221374}"/>
              </a:ext>
            </a:extLst>
          </p:cNvPr>
          <p:cNvSpPr txBox="1"/>
          <p:nvPr/>
        </p:nvSpPr>
        <p:spPr>
          <a:xfrm>
            <a:off x="533400" y="1369928"/>
            <a:ext cx="11125200" cy="4893647"/>
          </a:xfrm>
          <a:prstGeom prst="rect">
            <a:avLst/>
          </a:prstGeom>
          <a:noFill/>
        </p:spPr>
        <p:txBody>
          <a:bodyPr wrap="square" rtlCol="0">
            <a:spAutoFit/>
          </a:bodyPr>
          <a:lstStyle/>
          <a:p>
            <a:pPr algn="just"/>
            <a:endParaRPr lang="en-US" sz="2400" dirty="0"/>
          </a:p>
          <a:p>
            <a:pPr algn="just"/>
            <a:r>
              <a:rPr lang="en-US" sz="2400" b="1" dirty="0">
                <a:solidFill>
                  <a:schemeClr val="bg1"/>
                </a:solidFill>
              </a:rPr>
              <a:t>This analysis assessed Bank loan analytics among different bank customers. </a:t>
            </a:r>
          </a:p>
          <a:p>
            <a:pPr algn="just"/>
            <a:r>
              <a:rPr lang="en-US" sz="2400" b="1" dirty="0">
                <a:solidFill>
                  <a:schemeClr val="bg1"/>
                </a:solidFill>
              </a:rPr>
              <a:t>It identified KPIs like total_loan_application, </a:t>
            </a:r>
            <a:r>
              <a:rPr lang="en-US" sz="2400" b="1" dirty="0" err="1">
                <a:solidFill>
                  <a:schemeClr val="bg1"/>
                </a:solidFill>
              </a:rPr>
              <a:t>total_fund_amount</a:t>
            </a:r>
            <a:r>
              <a:rPr lang="en-US" sz="2400" b="1" dirty="0">
                <a:solidFill>
                  <a:schemeClr val="bg1"/>
                </a:solidFill>
              </a:rPr>
              <a:t>, </a:t>
            </a:r>
            <a:r>
              <a:rPr lang="en-US" sz="2400" b="1" dirty="0" err="1">
                <a:solidFill>
                  <a:schemeClr val="bg1"/>
                </a:solidFill>
              </a:rPr>
              <a:t>total_amount_received</a:t>
            </a:r>
            <a:r>
              <a:rPr lang="en-US" sz="2400" b="1" dirty="0">
                <a:solidFill>
                  <a:schemeClr val="bg1"/>
                </a:solidFill>
              </a:rPr>
              <a:t>, </a:t>
            </a:r>
            <a:r>
              <a:rPr lang="en-US" sz="2400" b="1" dirty="0" err="1">
                <a:solidFill>
                  <a:schemeClr val="bg1"/>
                </a:solidFill>
              </a:rPr>
              <a:t>avg_interest_rate</a:t>
            </a:r>
            <a:r>
              <a:rPr lang="en-US" sz="2400" b="1" dirty="0">
                <a:solidFill>
                  <a:schemeClr val="bg1"/>
                </a:solidFill>
              </a:rPr>
              <a:t>, </a:t>
            </a:r>
            <a:r>
              <a:rPr lang="en-US" sz="2400" b="1" dirty="0" err="1">
                <a:solidFill>
                  <a:schemeClr val="bg1"/>
                </a:solidFill>
              </a:rPr>
              <a:t>avg_DTI</a:t>
            </a:r>
            <a:r>
              <a:rPr lang="en-US" sz="2400" b="1" dirty="0">
                <a:solidFill>
                  <a:schemeClr val="bg1"/>
                </a:solidFill>
              </a:rPr>
              <a:t>. Good loans vs Bad loans. Performance  trend analysis by time, region, and customers. </a:t>
            </a:r>
          </a:p>
          <a:p>
            <a:pPr algn="just"/>
            <a:endParaRPr lang="en-US" sz="2400" b="1" dirty="0">
              <a:solidFill>
                <a:schemeClr val="bg1"/>
              </a:solidFill>
            </a:endParaRPr>
          </a:p>
          <a:p>
            <a:pPr algn="just"/>
            <a:r>
              <a:rPr lang="en-US" sz="2400" b="1" dirty="0">
                <a:solidFill>
                  <a:schemeClr val="bg1"/>
                </a:solidFill>
              </a:rPr>
              <a:t>Findings and recommendations are designed to help bank stakeholders and decision-makers to gain insights and understand loan program. This insight helps in reducing bad loan.</a:t>
            </a:r>
          </a:p>
          <a:p>
            <a:pPr algn="just"/>
            <a:endParaRPr lang="en-US" sz="2400" b="1" dirty="0">
              <a:solidFill>
                <a:schemeClr val="bg1"/>
              </a:solidFill>
              <a:cs typeface="Times New Roman" panose="02020603050405020304" pitchFamily="18" charset="0"/>
            </a:endParaRPr>
          </a:p>
          <a:p>
            <a:pPr algn="just"/>
            <a:r>
              <a:rPr lang="en-US" sz="2400" b="1" dirty="0">
                <a:solidFill>
                  <a:schemeClr val="bg1"/>
                </a:solidFill>
                <a:cs typeface="Times New Roman" panose="02020603050405020304" pitchFamily="18" charset="0"/>
              </a:rPr>
              <a:t>Using Microsoft Excel, data was collected, cleaned with Power Query, Imported into Power BI, aggregated and visualized. Charts, lines and Slicers were used to gain insights on bank loan analytics. </a:t>
            </a:r>
          </a:p>
        </p:txBody>
      </p:sp>
      <p:pic>
        <p:nvPicPr>
          <p:cNvPr id="6" name="Picture 5">
            <a:extLst>
              <a:ext uri="{FF2B5EF4-FFF2-40B4-BE49-F238E27FC236}">
                <a16:creationId xmlns:a16="http://schemas.microsoft.com/office/drawing/2014/main" id="{722BAD99-7B0B-4543-9758-378A28A6F5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845" y="0"/>
            <a:ext cx="1333586" cy="1333586"/>
          </a:xfrm>
          <a:prstGeom prst="rect">
            <a:avLst/>
          </a:prstGeom>
        </p:spPr>
      </p:pic>
    </p:spTree>
    <p:extLst>
      <p:ext uri="{BB962C8B-B14F-4D97-AF65-F5344CB8AC3E}">
        <p14:creationId xmlns:p14="http://schemas.microsoft.com/office/powerpoint/2010/main" val="3528290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39D91-9C29-4803-BACE-4F5F97465C70}"/>
              </a:ext>
            </a:extLst>
          </p:cNvPr>
          <p:cNvSpPr>
            <a:spLocks noGrp="1"/>
          </p:cNvSpPr>
          <p:nvPr>
            <p:ph type="title"/>
          </p:nvPr>
        </p:nvSpPr>
        <p:spPr>
          <a:xfrm>
            <a:off x="330200" y="495300"/>
            <a:ext cx="5486400" cy="611188"/>
          </a:xfrm>
        </p:spPr>
        <p:txBody>
          <a:bodyPr>
            <a:normAutofit fontScale="90000"/>
          </a:bodyPr>
          <a:lstStyle/>
          <a:p>
            <a:r>
              <a:rPr lang="en-US" b="1" dirty="0"/>
              <a:t>Analysis Objective </a:t>
            </a:r>
          </a:p>
        </p:txBody>
      </p:sp>
      <p:sp>
        <p:nvSpPr>
          <p:cNvPr id="4" name="Rectangle: Top Corners Rounded 3">
            <a:extLst>
              <a:ext uri="{FF2B5EF4-FFF2-40B4-BE49-F238E27FC236}">
                <a16:creationId xmlns:a16="http://schemas.microsoft.com/office/drawing/2014/main" id="{115B529C-32F3-42AF-9467-FB0680D843D6}"/>
              </a:ext>
            </a:extLst>
          </p:cNvPr>
          <p:cNvSpPr/>
          <p:nvPr/>
        </p:nvSpPr>
        <p:spPr>
          <a:xfrm>
            <a:off x="165100" y="1806211"/>
            <a:ext cx="11861800" cy="4084830"/>
          </a:xfrm>
          <a:prstGeom prst="round2Same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8D37A63-A251-415C-9D73-63C5EB221374}"/>
              </a:ext>
            </a:extLst>
          </p:cNvPr>
          <p:cNvSpPr txBox="1"/>
          <p:nvPr/>
        </p:nvSpPr>
        <p:spPr>
          <a:xfrm>
            <a:off x="388322" y="2132156"/>
            <a:ext cx="11125200" cy="2989729"/>
          </a:xfrm>
          <a:prstGeom prst="rect">
            <a:avLst/>
          </a:prstGeom>
          <a:noFill/>
        </p:spPr>
        <p:txBody>
          <a:bodyPr wrap="square" rtlCol="0">
            <a:spAutoFit/>
          </a:bodyPr>
          <a:lstStyle/>
          <a:p>
            <a:pPr algn="just"/>
            <a:r>
              <a:rPr lang="en-US" sz="2400" b="1" dirty="0">
                <a:solidFill>
                  <a:schemeClr val="bg1"/>
                </a:solidFill>
              </a:rPr>
              <a:t>This analysis evaluated bank loan KPIs like total applications, funded &amp; received amounts, classify loans into good vs bad loans, performance trend analysis by time, region, and customers, Identify factors affecting approval and repayment, build a Power BI dashboard for insights, and provide data-driven recommendations to improve a better bank loan performance. </a:t>
            </a:r>
          </a:p>
          <a:p>
            <a:pPr algn="just">
              <a:lnSpc>
                <a:spcPct val="150000"/>
              </a:lnSpc>
            </a:pPr>
            <a:endParaRPr lang="en-US" sz="2400" b="1" dirty="0">
              <a:solidFill>
                <a:schemeClr val="bg1"/>
              </a:solidFill>
            </a:endParaRPr>
          </a:p>
          <a:p>
            <a:pPr algn="just">
              <a:lnSpc>
                <a:spcPct val="150000"/>
              </a:lnSpc>
            </a:pPr>
            <a:endParaRPr lang="en-US" sz="2400" b="1" dirty="0">
              <a:solidFill>
                <a:schemeClr val="bg1"/>
              </a:solidFill>
            </a:endParaRPr>
          </a:p>
        </p:txBody>
      </p:sp>
      <p:pic>
        <p:nvPicPr>
          <p:cNvPr id="6" name="Picture 5">
            <a:extLst>
              <a:ext uri="{FF2B5EF4-FFF2-40B4-BE49-F238E27FC236}">
                <a16:creationId xmlns:a16="http://schemas.microsoft.com/office/drawing/2014/main" id="{9224A7A8-0FD3-4CEA-90A3-693E2EBC32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2445" y="0"/>
            <a:ext cx="1356955" cy="1356955"/>
          </a:xfrm>
          <a:prstGeom prst="rect">
            <a:avLst/>
          </a:prstGeom>
        </p:spPr>
      </p:pic>
    </p:spTree>
    <p:extLst>
      <p:ext uri="{BB962C8B-B14F-4D97-AF65-F5344CB8AC3E}">
        <p14:creationId xmlns:p14="http://schemas.microsoft.com/office/powerpoint/2010/main" val="2870267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39D91-9C29-4803-BACE-4F5F97465C70}"/>
              </a:ext>
            </a:extLst>
          </p:cNvPr>
          <p:cNvSpPr>
            <a:spLocks noGrp="1"/>
          </p:cNvSpPr>
          <p:nvPr>
            <p:ph type="title"/>
          </p:nvPr>
        </p:nvSpPr>
        <p:spPr>
          <a:xfrm>
            <a:off x="127477" y="95390"/>
            <a:ext cx="5486400" cy="611188"/>
          </a:xfrm>
        </p:spPr>
        <p:txBody>
          <a:bodyPr>
            <a:normAutofit/>
          </a:bodyPr>
          <a:lstStyle/>
          <a:p>
            <a:r>
              <a:rPr lang="en-US" sz="3600" b="1" dirty="0"/>
              <a:t>Data and Methodology</a:t>
            </a:r>
          </a:p>
        </p:txBody>
      </p:sp>
      <p:sp>
        <p:nvSpPr>
          <p:cNvPr id="4" name="Rectangle: Top Corners Rounded 3">
            <a:extLst>
              <a:ext uri="{FF2B5EF4-FFF2-40B4-BE49-F238E27FC236}">
                <a16:creationId xmlns:a16="http://schemas.microsoft.com/office/drawing/2014/main" id="{115B529C-32F3-42AF-9467-FB0680D843D6}"/>
              </a:ext>
            </a:extLst>
          </p:cNvPr>
          <p:cNvSpPr/>
          <p:nvPr/>
        </p:nvSpPr>
        <p:spPr>
          <a:xfrm>
            <a:off x="165100" y="1021603"/>
            <a:ext cx="11861800" cy="5741007"/>
          </a:xfrm>
          <a:prstGeom prst="round2Same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8D37A63-A251-415C-9D73-63C5EB221374}"/>
              </a:ext>
            </a:extLst>
          </p:cNvPr>
          <p:cNvSpPr txBox="1"/>
          <p:nvPr/>
        </p:nvSpPr>
        <p:spPr>
          <a:xfrm>
            <a:off x="533400" y="1517650"/>
            <a:ext cx="11125200" cy="4154984"/>
          </a:xfrm>
          <a:prstGeom prst="rect">
            <a:avLst/>
          </a:prstGeom>
          <a:noFill/>
        </p:spPr>
        <p:txBody>
          <a:bodyPr wrap="square" rtlCol="0">
            <a:spAutoFit/>
          </a:bodyPr>
          <a:lstStyle/>
          <a:p>
            <a:r>
              <a:rPr lang="en-US" sz="2400" b="1" dirty="0">
                <a:solidFill>
                  <a:schemeClr val="bg1"/>
                </a:solidFill>
                <a:cs typeface="Times New Roman" panose="02020603050405020304" pitchFamily="18" charset="0"/>
              </a:rPr>
              <a:t>The dataset used for this was sourced from kaggle.com database  platform. It contains key variables such as </a:t>
            </a:r>
            <a:r>
              <a:rPr lang="en-US" sz="2400" b="1" dirty="0">
                <a:solidFill>
                  <a:schemeClr val="bg1"/>
                </a:solidFill>
              </a:rPr>
              <a:t>Id, </a:t>
            </a:r>
            <a:r>
              <a:rPr lang="en-US" sz="2400" b="1" dirty="0" err="1">
                <a:solidFill>
                  <a:schemeClr val="bg1"/>
                </a:solidFill>
              </a:rPr>
              <a:t>Address_State</a:t>
            </a:r>
            <a:r>
              <a:rPr lang="en-US" sz="2400" b="1" dirty="0">
                <a:solidFill>
                  <a:schemeClr val="bg1"/>
                </a:solidFill>
              </a:rPr>
              <a:t>, </a:t>
            </a:r>
            <a:r>
              <a:rPr lang="en-US" sz="2400" b="1" dirty="0" err="1">
                <a:solidFill>
                  <a:schemeClr val="bg1"/>
                </a:solidFill>
              </a:rPr>
              <a:t>Application_Type</a:t>
            </a:r>
            <a:r>
              <a:rPr lang="en-US" sz="2400" b="1" dirty="0">
                <a:solidFill>
                  <a:schemeClr val="bg1"/>
                </a:solidFill>
              </a:rPr>
              <a:t>, </a:t>
            </a:r>
            <a:r>
              <a:rPr lang="en-US" sz="2400" b="1" dirty="0" err="1">
                <a:solidFill>
                  <a:schemeClr val="bg1"/>
                </a:solidFill>
              </a:rPr>
              <a:t>Emp_Length</a:t>
            </a:r>
            <a:r>
              <a:rPr lang="en-US" sz="2400" b="1" dirty="0">
                <a:solidFill>
                  <a:schemeClr val="bg1"/>
                </a:solidFill>
              </a:rPr>
              <a:t>, </a:t>
            </a:r>
            <a:r>
              <a:rPr lang="en-US" sz="2400" b="1" dirty="0" err="1">
                <a:solidFill>
                  <a:schemeClr val="bg1"/>
                </a:solidFill>
              </a:rPr>
              <a:t>Emp_Title</a:t>
            </a:r>
            <a:r>
              <a:rPr lang="en-US" sz="2400" b="1" dirty="0">
                <a:solidFill>
                  <a:schemeClr val="bg1"/>
                </a:solidFill>
              </a:rPr>
              <a:t>, Grade, </a:t>
            </a:r>
            <a:r>
              <a:rPr lang="en-US" sz="2400" b="1" dirty="0" err="1">
                <a:solidFill>
                  <a:schemeClr val="bg1"/>
                </a:solidFill>
              </a:rPr>
              <a:t>Home_Ownership</a:t>
            </a:r>
            <a:r>
              <a:rPr lang="en-US" sz="2400" b="1" dirty="0">
                <a:solidFill>
                  <a:schemeClr val="bg1"/>
                </a:solidFill>
              </a:rPr>
              <a:t>, </a:t>
            </a:r>
            <a:r>
              <a:rPr lang="en-US" sz="2400" b="1" dirty="0" err="1">
                <a:solidFill>
                  <a:schemeClr val="bg1"/>
                </a:solidFill>
              </a:rPr>
              <a:t>Issue_Date</a:t>
            </a:r>
            <a:r>
              <a:rPr lang="en-US" sz="2400" b="1" dirty="0">
                <a:solidFill>
                  <a:schemeClr val="bg1"/>
                </a:solidFill>
              </a:rPr>
              <a:t>, </a:t>
            </a:r>
            <a:r>
              <a:rPr lang="en-US" sz="2400" b="1" dirty="0" err="1">
                <a:solidFill>
                  <a:schemeClr val="bg1"/>
                </a:solidFill>
              </a:rPr>
              <a:t>Last_Credit_Pull_Date</a:t>
            </a:r>
            <a:r>
              <a:rPr lang="en-US" sz="2400" b="1" dirty="0">
                <a:solidFill>
                  <a:schemeClr val="bg1"/>
                </a:solidFill>
              </a:rPr>
              <a:t>, Last_Payment_Date, </a:t>
            </a:r>
            <a:r>
              <a:rPr lang="en-US" sz="2400" b="1" dirty="0" err="1">
                <a:solidFill>
                  <a:schemeClr val="bg1"/>
                </a:solidFill>
              </a:rPr>
              <a:t>Loan_Status</a:t>
            </a:r>
            <a:r>
              <a:rPr lang="en-US" sz="2400" b="1" dirty="0">
                <a:solidFill>
                  <a:schemeClr val="bg1"/>
                </a:solidFill>
              </a:rPr>
              <a:t>, </a:t>
            </a:r>
            <a:r>
              <a:rPr lang="en-US" sz="2400" b="1" dirty="0" err="1">
                <a:solidFill>
                  <a:schemeClr val="bg1"/>
                </a:solidFill>
              </a:rPr>
              <a:t>Next_Payment_Date</a:t>
            </a:r>
            <a:r>
              <a:rPr lang="en-US" sz="2400" b="1" dirty="0">
                <a:solidFill>
                  <a:schemeClr val="bg1"/>
                </a:solidFill>
              </a:rPr>
              <a:t>,	</a:t>
            </a:r>
            <a:r>
              <a:rPr lang="en-US" sz="2400" b="1" dirty="0" err="1">
                <a:solidFill>
                  <a:schemeClr val="bg1"/>
                </a:solidFill>
              </a:rPr>
              <a:t>Member_Id</a:t>
            </a:r>
            <a:r>
              <a:rPr lang="en-US" sz="2400" b="1" dirty="0">
                <a:solidFill>
                  <a:schemeClr val="bg1"/>
                </a:solidFill>
              </a:rPr>
              <a:t>, Purpose, </a:t>
            </a:r>
            <a:r>
              <a:rPr lang="en-US" sz="2400" b="1" dirty="0" err="1">
                <a:solidFill>
                  <a:schemeClr val="bg1"/>
                </a:solidFill>
              </a:rPr>
              <a:t>Sub_Grade</a:t>
            </a:r>
            <a:r>
              <a:rPr lang="en-US" sz="2400" b="1" dirty="0">
                <a:solidFill>
                  <a:schemeClr val="bg1"/>
                </a:solidFill>
              </a:rPr>
              <a:t>, Term, </a:t>
            </a:r>
            <a:r>
              <a:rPr lang="en-US" sz="2400" b="1" dirty="0" err="1">
                <a:solidFill>
                  <a:schemeClr val="bg1"/>
                </a:solidFill>
              </a:rPr>
              <a:t>Verification_Status</a:t>
            </a:r>
            <a:r>
              <a:rPr lang="en-US" sz="2400" b="1" dirty="0">
                <a:solidFill>
                  <a:schemeClr val="bg1"/>
                </a:solidFill>
              </a:rPr>
              <a:t>, </a:t>
            </a:r>
            <a:r>
              <a:rPr lang="en-US" sz="2400" b="1" dirty="0" err="1">
                <a:solidFill>
                  <a:schemeClr val="bg1"/>
                </a:solidFill>
              </a:rPr>
              <a:t>Annual_Income</a:t>
            </a:r>
            <a:r>
              <a:rPr lang="en-US" sz="2400" b="1" dirty="0">
                <a:solidFill>
                  <a:schemeClr val="bg1"/>
                </a:solidFill>
              </a:rPr>
              <a:t>, DTI, Installment, </a:t>
            </a:r>
            <a:r>
              <a:rPr lang="en-US" sz="2400" b="1" dirty="0" err="1">
                <a:solidFill>
                  <a:schemeClr val="bg1"/>
                </a:solidFill>
              </a:rPr>
              <a:t>Int_Rate</a:t>
            </a:r>
            <a:r>
              <a:rPr lang="en-US" sz="2400" b="1" dirty="0">
                <a:solidFill>
                  <a:schemeClr val="bg1"/>
                </a:solidFill>
              </a:rPr>
              <a:t>, </a:t>
            </a:r>
            <a:r>
              <a:rPr lang="en-US" sz="2400" b="1" dirty="0" err="1">
                <a:solidFill>
                  <a:schemeClr val="bg1"/>
                </a:solidFill>
              </a:rPr>
              <a:t>Loan_Amount</a:t>
            </a:r>
            <a:r>
              <a:rPr lang="en-US" sz="2400" b="1" dirty="0">
                <a:solidFill>
                  <a:schemeClr val="bg1"/>
                </a:solidFill>
              </a:rPr>
              <a:t>, </a:t>
            </a:r>
            <a:r>
              <a:rPr lang="en-US" sz="2400" b="1" dirty="0" err="1">
                <a:solidFill>
                  <a:schemeClr val="bg1"/>
                </a:solidFill>
              </a:rPr>
              <a:t>Total_Acc</a:t>
            </a:r>
            <a:r>
              <a:rPr lang="en-US" sz="2400" b="1" dirty="0">
                <a:solidFill>
                  <a:schemeClr val="bg1"/>
                </a:solidFill>
              </a:rPr>
              <a:t>, </a:t>
            </a:r>
            <a:r>
              <a:rPr lang="en-US" sz="2400" b="1" dirty="0" err="1">
                <a:solidFill>
                  <a:schemeClr val="bg1"/>
                </a:solidFill>
              </a:rPr>
              <a:t>Total_Payment</a:t>
            </a:r>
            <a:r>
              <a:rPr lang="en-US" sz="2400" b="1" dirty="0">
                <a:solidFill>
                  <a:schemeClr val="bg1"/>
                </a:solidFill>
              </a:rPr>
              <a:t>.</a:t>
            </a:r>
          </a:p>
          <a:p>
            <a:pPr algn="just"/>
            <a:endParaRPr lang="en-US" sz="2400" b="1" dirty="0">
              <a:solidFill>
                <a:schemeClr val="bg1"/>
              </a:solidFill>
              <a:cs typeface="Times New Roman" panose="02020603050405020304" pitchFamily="18" charset="0"/>
            </a:endParaRPr>
          </a:p>
          <a:p>
            <a:pPr algn="just"/>
            <a:r>
              <a:rPr lang="en-US" sz="2400" b="1" dirty="0">
                <a:solidFill>
                  <a:schemeClr val="bg1"/>
                </a:solidFill>
                <a:cs typeface="Times New Roman" panose="02020603050405020304" pitchFamily="18" charset="0"/>
              </a:rPr>
              <a:t>Data cleaning and transformation were carried out using Excel and Power Query. Power BI were used to analyze, aggregate and filter the data, while Charts, lines and Slicers supported effective visual exploration and trends identification across different variables and bank loan analytics. </a:t>
            </a:r>
          </a:p>
        </p:txBody>
      </p:sp>
      <p:pic>
        <p:nvPicPr>
          <p:cNvPr id="6" name="Picture 5">
            <a:extLst>
              <a:ext uri="{FF2B5EF4-FFF2-40B4-BE49-F238E27FC236}">
                <a16:creationId xmlns:a16="http://schemas.microsoft.com/office/drawing/2014/main" id="{178348CA-B07E-4488-B2B9-F30E632B2D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3877" y="-81352"/>
            <a:ext cx="1102955" cy="1102955"/>
          </a:xfrm>
          <a:prstGeom prst="rect">
            <a:avLst/>
          </a:prstGeom>
        </p:spPr>
      </p:pic>
    </p:spTree>
    <p:extLst>
      <p:ext uri="{BB962C8B-B14F-4D97-AF65-F5344CB8AC3E}">
        <p14:creationId xmlns:p14="http://schemas.microsoft.com/office/powerpoint/2010/main" val="3776485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39D91-9C29-4803-BACE-4F5F97465C70}"/>
              </a:ext>
            </a:extLst>
          </p:cNvPr>
          <p:cNvSpPr>
            <a:spLocks noGrp="1"/>
          </p:cNvSpPr>
          <p:nvPr>
            <p:ph type="title"/>
          </p:nvPr>
        </p:nvSpPr>
        <p:spPr>
          <a:xfrm>
            <a:off x="215900" y="656843"/>
            <a:ext cx="6096000" cy="399751"/>
          </a:xfrm>
        </p:spPr>
        <p:txBody>
          <a:bodyPr>
            <a:noAutofit/>
          </a:bodyPr>
          <a:lstStyle/>
          <a:p>
            <a:r>
              <a:rPr lang="en-US" sz="2400" b="1" dirty="0"/>
              <a:t>ANALYSIS PRESENTATION</a:t>
            </a:r>
            <a:br>
              <a:rPr lang="en-US" sz="2400" b="1" dirty="0"/>
            </a:br>
            <a:br>
              <a:rPr lang="en-US" sz="2400" b="1" dirty="0"/>
            </a:br>
            <a:r>
              <a:rPr lang="en-US" sz="2400" b="1" dirty="0"/>
              <a:t>         KEY PERFORMANCE INDICATORS  </a:t>
            </a:r>
          </a:p>
        </p:txBody>
      </p:sp>
      <p:sp>
        <p:nvSpPr>
          <p:cNvPr id="31" name="Rectangle: Top Corners Rounded 30">
            <a:extLst>
              <a:ext uri="{FF2B5EF4-FFF2-40B4-BE49-F238E27FC236}">
                <a16:creationId xmlns:a16="http://schemas.microsoft.com/office/drawing/2014/main" id="{EA8A803A-2E8E-4021-AB09-788CB2AC15AF}"/>
              </a:ext>
            </a:extLst>
          </p:cNvPr>
          <p:cNvSpPr/>
          <p:nvPr/>
        </p:nvSpPr>
        <p:spPr>
          <a:xfrm>
            <a:off x="146050" y="1385153"/>
            <a:ext cx="11899900" cy="5373451"/>
          </a:xfrm>
          <a:prstGeom prst="round2Same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87A065A-856F-44C5-A3B1-ECC31BFE2FAB}"/>
              </a:ext>
            </a:extLst>
          </p:cNvPr>
          <p:cNvSpPr txBox="1"/>
          <p:nvPr/>
        </p:nvSpPr>
        <p:spPr>
          <a:xfrm>
            <a:off x="736600" y="1635569"/>
            <a:ext cx="10464800" cy="6186309"/>
          </a:xfrm>
          <a:prstGeom prst="rect">
            <a:avLst/>
          </a:prstGeom>
          <a:noFill/>
        </p:spPr>
        <p:txBody>
          <a:bodyPr wrap="square" rtlCol="0">
            <a:spAutoFit/>
          </a:bodyPr>
          <a:lstStyle/>
          <a:p>
            <a:pPr marL="285750" lvl="0" indent="-285750" algn="just">
              <a:buFont typeface="Wingdings" panose="05000000000000000000" pitchFamily="2" charset="2"/>
              <a:buChar char="Ø"/>
            </a:pPr>
            <a:r>
              <a:rPr lang="en-US" sz="2400" b="1" dirty="0">
                <a:solidFill>
                  <a:schemeClr val="bg1"/>
                </a:solidFill>
              </a:rPr>
              <a:t>Bank processed 38,576 loan applications in total, and funding a total of $435.76 million. </a:t>
            </a:r>
          </a:p>
          <a:p>
            <a:pPr lvl="0" algn="just"/>
            <a:endParaRPr lang="en-US" sz="2400" b="1" dirty="0">
              <a:solidFill>
                <a:schemeClr val="bg1"/>
              </a:solidFill>
            </a:endParaRPr>
          </a:p>
          <a:p>
            <a:pPr lvl="0" algn="just"/>
            <a:endParaRPr lang="en-US" sz="2400" b="1" dirty="0">
              <a:solidFill>
                <a:schemeClr val="bg1"/>
              </a:solidFill>
            </a:endParaRPr>
          </a:p>
          <a:p>
            <a:pPr marL="285750" indent="-285750" algn="just">
              <a:buFont typeface="Wingdings" panose="05000000000000000000" pitchFamily="2" charset="2"/>
              <a:buChar char="Ø"/>
            </a:pPr>
            <a:r>
              <a:rPr lang="en-US" sz="2400" b="1" dirty="0">
                <a:solidFill>
                  <a:schemeClr val="bg1"/>
                </a:solidFill>
              </a:rPr>
              <a:t>Borrowers repaid $473.07 million, indicating strong overall portfolio performance due to principal and interest repayments.</a:t>
            </a:r>
          </a:p>
          <a:p>
            <a:pPr algn="just"/>
            <a:endParaRPr lang="en-US" sz="2400" b="1" dirty="0">
              <a:solidFill>
                <a:schemeClr val="bg1"/>
              </a:solidFill>
            </a:endParaRPr>
          </a:p>
          <a:p>
            <a:pPr algn="just"/>
            <a:endParaRPr lang="en-US" sz="2400" b="1" dirty="0">
              <a:solidFill>
                <a:schemeClr val="bg1"/>
              </a:solidFill>
            </a:endParaRPr>
          </a:p>
          <a:p>
            <a:pPr marL="285750" lvl="0" indent="-285750">
              <a:buFont typeface="Wingdings" panose="05000000000000000000" pitchFamily="2" charset="2"/>
              <a:buChar char="Ø"/>
            </a:pPr>
            <a:r>
              <a:rPr lang="en-US" sz="2400" b="1" dirty="0">
                <a:solidFill>
                  <a:schemeClr val="bg1"/>
                </a:solidFill>
              </a:rPr>
              <a:t>Bank portfolio maintains a healthy loan book, with 86.18%  as good loan issued and 13.82% as bad loan issued.</a:t>
            </a:r>
          </a:p>
          <a:p>
            <a:pPr lvl="0"/>
            <a:endParaRPr lang="en-US" dirty="0"/>
          </a:p>
          <a:p>
            <a:pPr marL="285750" lvl="0" indent="-285750">
              <a:buFont typeface="Wingdings" panose="05000000000000000000" pitchFamily="2" charset="2"/>
              <a:buChar char="Ø"/>
            </a:pPr>
            <a:endParaRPr lang="en-US" dirty="0"/>
          </a:p>
          <a:p>
            <a:pPr marL="285750" lvl="0" indent="-285750">
              <a:buFont typeface="Wingdings" panose="05000000000000000000" pitchFamily="2" charset="2"/>
              <a:buChar char="Ø"/>
            </a:pPr>
            <a:r>
              <a:rPr lang="en-US" sz="2400" b="1" dirty="0">
                <a:solidFill>
                  <a:schemeClr val="bg1"/>
                </a:solidFill>
              </a:rPr>
              <a:t>The overall average interest rate is  12.05%, while average DTI is 13.33% respectively. </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endParaRPr lang="en-US" dirty="0"/>
          </a:p>
          <a:p>
            <a:endParaRPr lang="en-US" dirty="0"/>
          </a:p>
        </p:txBody>
      </p:sp>
      <p:pic>
        <p:nvPicPr>
          <p:cNvPr id="6" name="Picture 5">
            <a:extLst>
              <a:ext uri="{FF2B5EF4-FFF2-40B4-BE49-F238E27FC236}">
                <a16:creationId xmlns:a16="http://schemas.microsoft.com/office/drawing/2014/main" id="{CB8DB119-AF89-4FD7-8A62-334AC801EB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3422" y="-49945"/>
            <a:ext cx="1356955" cy="1356955"/>
          </a:xfrm>
          <a:prstGeom prst="rect">
            <a:avLst/>
          </a:prstGeom>
        </p:spPr>
      </p:pic>
    </p:spTree>
    <p:extLst>
      <p:ext uri="{BB962C8B-B14F-4D97-AF65-F5344CB8AC3E}">
        <p14:creationId xmlns:p14="http://schemas.microsoft.com/office/powerpoint/2010/main" val="2528450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39D91-9C29-4803-BACE-4F5F97465C70}"/>
              </a:ext>
            </a:extLst>
          </p:cNvPr>
          <p:cNvSpPr>
            <a:spLocks noGrp="1"/>
          </p:cNvSpPr>
          <p:nvPr>
            <p:ph type="title"/>
          </p:nvPr>
        </p:nvSpPr>
        <p:spPr>
          <a:xfrm>
            <a:off x="-38100" y="534535"/>
            <a:ext cx="5486400" cy="611188"/>
          </a:xfrm>
        </p:spPr>
        <p:txBody>
          <a:bodyPr>
            <a:normAutofit/>
          </a:bodyPr>
          <a:lstStyle/>
          <a:p>
            <a:pPr algn="ctr"/>
            <a:r>
              <a:rPr lang="en-US" sz="3200" b="1" dirty="0"/>
              <a:t>ANALYSIS INSIGHTS CONT</a:t>
            </a:r>
            <a:r>
              <a:rPr lang="en-US" sz="3600" b="1" dirty="0"/>
              <a:t>.</a:t>
            </a:r>
            <a:endParaRPr lang="en-US" sz="3200" b="1" dirty="0"/>
          </a:p>
        </p:txBody>
      </p:sp>
      <p:sp>
        <p:nvSpPr>
          <p:cNvPr id="8" name="Rectangle: Top Corners Rounded 7">
            <a:extLst>
              <a:ext uri="{FF2B5EF4-FFF2-40B4-BE49-F238E27FC236}">
                <a16:creationId xmlns:a16="http://schemas.microsoft.com/office/drawing/2014/main" id="{0D38FA3C-2A8F-486A-9BAB-E0394622676A}"/>
              </a:ext>
            </a:extLst>
          </p:cNvPr>
          <p:cNvSpPr/>
          <p:nvPr/>
        </p:nvSpPr>
        <p:spPr>
          <a:xfrm>
            <a:off x="146050" y="1357530"/>
            <a:ext cx="11899900" cy="5373451"/>
          </a:xfrm>
          <a:prstGeom prst="round2Same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CB83073-434A-44F6-A1BD-82DDFC634D51}"/>
              </a:ext>
            </a:extLst>
          </p:cNvPr>
          <p:cNvSpPr txBox="1"/>
          <p:nvPr/>
        </p:nvSpPr>
        <p:spPr>
          <a:xfrm>
            <a:off x="635000" y="1968718"/>
            <a:ext cx="10985500" cy="3785652"/>
          </a:xfrm>
          <a:prstGeom prst="rect">
            <a:avLst/>
          </a:prstGeom>
          <a:noFill/>
        </p:spPr>
        <p:txBody>
          <a:bodyPr wrap="square" rtlCol="0">
            <a:spAutoFit/>
          </a:bodyPr>
          <a:lstStyle/>
          <a:p>
            <a:pPr marL="285750" lvl="0" indent="-285750" algn="just">
              <a:buFont typeface="Wingdings" panose="05000000000000000000" pitchFamily="2" charset="2"/>
              <a:buChar char="Ø"/>
            </a:pPr>
            <a:r>
              <a:rPr lang="en-US" sz="2400" b="1" dirty="0">
                <a:solidFill>
                  <a:schemeClr val="bg1"/>
                </a:solidFill>
              </a:rPr>
              <a:t>This analysis showed that loan demand concentrated in a few states like California, New York, Texas, Florida, and New Jersey receive the highest funding. </a:t>
            </a:r>
          </a:p>
          <a:p>
            <a:pPr lvl="0" algn="just"/>
            <a:endParaRPr lang="en-US" sz="2400" b="1" dirty="0">
              <a:solidFill>
                <a:schemeClr val="bg1"/>
              </a:solidFill>
            </a:endParaRPr>
          </a:p>
          <a:p>
            <a:pPr marL="285750" lvl="0" indent="-285750" algn="just">
              <a:buFont typeface="Wingdings" panose="05000000000000000000" pitchFamily="2" charset="2"/>
              <a:buChar char="Ø"/>
            </a:pPr>
            <a:r>
              <a:rPr lang="en-US" sz="2400" b="1" dirty="0">
                <a:solidFill>
                  <a:schemeClr val="bg1"/>
                </a:solidFill>
              </a:rPr>
              <a:t>Credit risk increases steadily as borrower risk grades decline, charge-off rate increases from Grade A (5.7%) to Grade G (31.3%).</a:t>
            </a:r>
          </a:p>
          <a:p>
            <a:pPr lvl="0" algn="just"/>
            <a:r>
              <a:rPr lang="en-US" sz="2400" b="1" dirty="0">
                <a:solidFill>
                  <a:schemeClr val="bg1"/>
                </a:solidFill>
              </a:rPr>
              <a:t> </a:t>
            </a:r>
          </a:p>
          <a:p>
            <a:pPr marL="285750" lvl="0" indent="-285750" algn="just">
              <a:buFont typeface="Wingdings" panose="05000000000000000000" pitchFamily="2" charset="2"/>
              <a:buChar char="Ø"/>
            </a:pPr>
            <a:r>
              <a:rPr lang="en-US" sz="2400" b="1" dirty="0">
                <a:solidFill>
                  <a:schemeClr val="bg1"/>
                </a:solidFill>
              </a:rPr>
              <a:t>The bank maintained a healthy portfolio with a high repayment rate</a:t>
            </a:r>
          </a:p>
          <a:p>
            <a:pPr lvl="0" algn="just"/>
            <a:endParaRPr lang="en-US" sz="2400" b="1" dirty="0">
              <a:solidFill>
                <a:schemeClr val="bg1"/>
              </a:solidFill>
            </a:endParaRPr>
          </a:p>
          <a:p>
            <a:pPr marL="285750" lvl="0" indent="-285750" algn="just">
              <a:buFont typeface="Wingdings" panose="05000000000000000000" pitchFamily="2" charset="2"/>
              <a:buChar char="Ø"/>
            </a:pPr>
            <a:r>
              <a:rPr lang="en-US" sz="2400" b="1" dirty="0">
                <a:solidFill>
                  <a:schemeClr val="bg1"/>
                </a:solidFill>
              </a:rPr>
              <a:t>Most borrowers continue meeting their repayment obligations, supporting stable revenue generation.</a:t>
            </a:r>
            <a:endParaRPr lang="en-US" dirty="0"/>
          </a:p>
        </p:txBody>
      </p:sp>
      <p:pic>
        <p:nvPicPr>
          <p:cNvPr id="9" name="Picture 8">
            <a:extLst>
              <a:ext uri="{FF2B5EF4-FFF2-40B4-BE49-F238E27FC236}">
                <a16:creationId xmlns:a16="http://schemas.microsoft.com/office/drawing/2014/main" id="{977A8C24-1021-4064-B1A5-D748C1A95D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2445" y="50800"/>
            <a:ext cx="1306155" cy="1306155"/>
          </a:xfrm>
          <a:prstGeom prst="rect">
            <a:avLst/>
          </a:prstGeom>
        </p:spPr>
      </p:pic>
    </p:spTree>
    <p:extLst>
      <p:ext uri="{BB962C8B-B14F-4D97-AF65-F5344CB8AC3E}">
        <p14:creationId xmlns:p14="http://schemas.microsoft.com/office/powerpoint/2010/main" val="745850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39D91-9C29-4803-BACE-4F5F97465C70}"/>
              </a:ext>
            </a:extLst>
          </p:cNvPr>
          <p:cNvSpPr>
            <a:spLocks noGrp="1"/>
          </p:cNvSpPr>
          <p:nvPr>
            <p:ph type="title"/>
          </p:nvPr>
        </p:nvSpPr>
        <p:spPr>
          <a:xfrm>
            <a:off x="-292100" y="540224"/>
            <a:ext cx="5829300" cy="611188"/>
          </a:xfrm>
        </p:spPr>
        <p:txBody>
          <a:bodyPr>
            <a:normAutofit/>
          </a:bodyPr>
          <a:lstStyle/>
          <a:p>
            <a:pPr algn="ctr"/>
            <a:r>
              <a:rPr lang="en-US" sz="3200" b="1" dirty="0"/>
              <a:t>BUSINESS IMPLICATIONS</a:t>
            </a:r>
            <a:r>
              <a:rPr lang="en-US" sz="3600" b="1" dirty="0"/>
              <a:t>.</a:t>
            </a:r>
          </a:p>
        </p:txBody>
      </p:sp>
      <p:sp>
        <p:nvSpPr>
          <p:cNvPr id="6" name="Rectangle: Top Corners Rounded 5">
            <a:extLst>
              <a:ext uri="{FF2B5EF4-FFF2-40B4-BE49-F238E27FC236}">
                <a16:creationId xmlns:a16="http://schemas.microsoft.com/office/drawing/2014/main" id="{64F9C675-CE99-4D26-BB04-58F3CD64592B}"/>
              </a:ext>
            </a:extLst>
          </p:cNvPr>
          <p:cNvSpPr/>
          <p:nvPr/>
        </p:nvSpPr>
        <p:spPr>
          <a:xfrm>
            <a:off x="146050" y="1357530"/>
            <a:ext cx="11899900" cy="5373451"/>
          </a:xfrm>
          <a:prstGeom prst="round2Same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A46B4C5-8D0E-44F2-BE2E-D617230D3004}"/>
              </a:ext>
            </a:extLst>
          </p:cNvPr>
          <p:cNvSpPr txBox="1"/>
          <p:nvPr/>
        </p:nvSpPr>
        <p:spPr>
          <a:xfrm>
            <a:off x="1054100" y="2151429"/>
            <a:ext cx="9550400" cy="3785652"/>
          </a:xfrm>
          <a:prstGeom prst="rect">
            <a:avLst/>
          </a:prstGeom>
          <a:noFill/>
        </p:spPr>
        <p:txBody>
          <a:bodyPr wrap="square" rtlCol="0">
            <a:spAutoFit/>
          </a:bodyPr>
          <a:lstStyle/>
          <a:p>
            <a:pPr marL="285750" lvl="0" indent="-285750" algn="just">
              <a:buFont typeface="Wingdings" panose="05000000000000000000" pitchFamily="2" charset="2"/>
              <a:buChar char="Ø"/>
            </a:pPr>
            <a:r>
              <a:rPr lang="en-US" sz="2400" b="1" dirty="0">
                <a:solidFill>
                  <a:schemeClr val="bg1"/>
                </a:solidFill>
              </a:rPr>
              <a:t>Interest income contributes positively to portfolio profitability</a:t>
            </a:r>
          </a:p>
          <a:p>
            <a:pPr lvl="0" algn="just"/>
            <a:endParaRPr lang="en-US" sz="2400" b="1" dirty="0">
              <a:solidFill>
                <a:schemeClr val="bg1"/>
              </a:solidFill>
            </a:endParaRPr>
          </a:p>
          <a:p>
            <a:pPr marL="285750" lvl="0" indent="-285750" algn="just">
              <a:buFont typeface="Wingdings" panose="05000000000000000000" pitchFamily="2" charset="2"/>
              <a:buChar char="Ø"/>
            </a:pPr>
            <a:r>
              <a:rPr lang="en-US" sz="2400" b="1" dirty="0">
                <a:solidFill>
                  <a:schemeClr val="bg1"/>
                </a:solidFill>
              </a:rPr>
              <a:t>Healthy lending portfolio with sustainable repayment performance</a:t>
            </a:r>
          </a:p>
          <a:p>
            <a:pPr lvl="0" algn="just"/>
            <a:endParaRPr lang="en-US" sz="2400" b="1" dirty="0">
              <a:solidFill>
                <a:schemeClr val="bg1"/>
              </a:solidFill>
            </a:endParaRPr>
          </a:p>
          <a:p>
            <a:pPr marL="285750" lvl="0" indent="-285750" algn="just">
              <a:buFont typeface="Wingdings" panose="05000000000000000000" pitchFamily="2" charset="2"/>
              <a:buChar char="Ø"/>
            </a:pPr>
            <a:r>
              <a:rPr lang="en-US" sz="2400" b="1" dirty="0">
                <a:solidFill>
                  <a:schemeClr val="bg1"/>
                </a:solidFill>
              </a:rPr>
              <a:t>Revenue depends heavily on a small number of markets.</a:t>
            </a:r>
          </a:p>
          <a:p>
            <a:pPr marL="285750" lvl="0" indent="-285750" algn="just">
              <a:buFont typeface="Wingdings" panose="05000000000000000000" pitchFamily="2" charset="2"/>
              <a:buChar char="Ø"/>
            </a:pPr>
            <a:endParaRPr lang="en-US" sz="2400" b="1" dirty="0">
              <a:solidFill>
                <a:schemeClr val="bg1"/>
              </a:solidFill>
            </a:endParaRPr>
          </a:p>
          <a:p>
            <a:pPr marL="285750" lvl="0" indent="-285750" algn="just">
              <a:buFont typeface="Wingdings" panose="05000000000000000000" pitchFamily="2" charset="2"/>
              <a:buChar char="Ø"/>
            </a:pPr>
            <a:r>
              <a:rPr lang="en-US" sz="2400" b="1" dirty="0">
                <a:solidFill>
                  <a:schemeClr val="bg1"/>
                </a:solidFill>
              </a:rPr>
              <a:t>Higher-risk borrowers require stricter underwriting and pricing</a:t>
            </a:r>
          </a:p>
          <a:p>
            <a:pPr lvl="0" algn="just"/>
            <a:endParaRPr lang="en-US" sz="2400" b="1" dirty="0">
              <a:solidFill>
                <a:schemeClr val="bg1"/>
              </a:solidFill>
            </a:endParaRPr>
          </a:p>
          <a:p>
            <a:pPr marL="285750" lvl="0" indent="-285750" algn="just">
              <a:buFont typeface="Wingdings" panose="05000000000000000000" pitchFamily="2" charset="2"/>
              <a:buChar char="Ø"/>
            </a:pPr>
            <a:r>
              <a:rPr lang="en-US" sz="2400" b="1" dirty="0">
                <a:solidFill>
                  <a:schemeClr val="bg1"/>
                </a:solidFill>
              </a:rPr>
              <a:t>Opportunity to strengthen this profitable customer segment while managing credit risk.</a:t>
            </a:r>
          </a:p>
        </p:txBody>
      </p:sp>
      <p:pic>
        <p:nvPicPr>
          <p:cNvPr id="8" name="Picture 7">
            <a:extLst>
              <a:ext uri="{FF2B5EF4-FFF2-40B4-BE49-F238E27FC236}">
                <a16:creationId xmlns:a16="http://schemas.microsoft.com/office/drawing/2014/main" id="{C28AFB90-EB87-49A6-BA57-210F354594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6145" y="11816"/>
            <a:ext cx="1242655" cy="1242655"/>
          </a:xfrm>
          <a:prstGeom prst="rect">
            <a:avLst/>
          </a:prstGeom>
        </p:spPr>
      </p:pic>
    </p:spTree>
    <p:extLst>
      <p:ext uri="{BB962C8B-B14F-4D97-AF65-F5344CB8AC3E}">
        <p14:creationId xmlns:p14="http://schemas.microsoft.com/office/powerpoint/2010/main" val="385066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39D91-9C29-4803-BACE-4F5F97465C70}"/>
              </a:ext>
            </a:extLst>
          </p:cNvPr>
          <p:cNvSpPr>
            <a:spLocks noGrp="1"/>
          </p:cNvSpPr>
          <p:nvPr>
            <p:ph type="title"/>
          </p:nvPr>
        </p:nvSpPr>
        <p:spPr>
          <a:xfrm>
            <a:off x="2324100" y="127000"/>
            <a:ext cx="5854700" cy="611188"/>
          </a:xfrm>
        </p:spPr>
        <p:txBody>
          <a:bodyPr>
            <a:normAutofit fontScale="90000"/>
          </a:bodyPr>
          <a:lstStyle/>
          <a:p>
            <a:pPr algn="ctr"/>
            <a:r>
              <a:rPr lang="en-US" b="1" dirty="0"/>
              <a:t>Summary of Findings </a:t>
            </a:r>
          </a:p>
        </p:txBody>
      </p:sp>
      <p:sp>
        <p:nvSpPr>
          <p:cNvPr id="4" name="Rectangle: Top Corners Rounded 3">
            <a:extLst>
              <a:ext uri="{FF2B5EF4-FFF2-40B4-BE49-F238E27FC236}">
                <a16:creationId xmlns:a16="http://schemas.microsoft.com/office/drawing/2014/main" id="{DD4787DA-0F15-41E8-B6D6-D7994864DFD5}"/>
              </a:ext>
            </a:extLst>
          </p:cNvPr>
          <p:cNvSpPr/>
          <p:nvPr/>
        </p:nvSpPr>
        <p:spPr>
          <a:xfrm>
            <a:off x="146050" y="1357530"/>
            <a:ext cx="11899900" cy="5373451"/>
          </a:xfrm>
          <a:prstGeom prst="round2Same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1BDB3674-6477-4606-802B-D091866221C8}"/>
              </a:ext>
            </a:extLst>
          </p:cNvPr>
          <p:cNvCxnSpPr/>
          <p:nvPr/>
        </p:nvCxnSpPr>
        <p:spPr>
          <a:xfrm>
            <a:off x="482600" y="927100"/>
            <a:ext cx="10439400" cy="0"/>
          </a:xfrm>
          <a:prstGeom prst="line">
            <a:avLst/>
          </a:prstGeom>
          <a:ln w="28575">
            <a:solidFill>
              <a:schemeClr val="bg2">
                <a:lumMod val="10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DF0DBC3-56E3-4487-9743-E809FAAA7345}"/>
              </a:ext>
            </a:extLst>
          </p:cNvPr>
          <p:cNvSpPr txBox="1"/>
          <p:nvPr/>
        </p:nvSpPr>
        <p:spPr>
          <a:xfrm>
            <a:off x="482600" y="1635369"/>
            <a:ext cx="11163300" cy="3785652"/>
          </a:xfrm>
          <a:prstGeom prst="rect">
            <a:avLst/>
          </a:prstGeom>
          <a:noFill/>
        </p:spPr>
        <p:txBody>
          <a:bodyPr wrap="square" rtlCol="0">
            <a:spAutoFit/>
          </a:bodyPr>
          <a:lstStyle/>
          <a:p>
            <a:pPr algn="just"/>
            <a:r>
              <a:rPr lang="en-US" sz="2400" b="1" dirty="0">
                <a:solidFill>
                  <a:schemeClr val="bg1"/>
                </a:solidFill>
              </a:rPr>
              <a:t>This analysis showed that bank operate a profitable lending portfolio with strong repayment performance. </a:t>
            </a:r>
          </a:p>
          <a:p>
            <a:pPr algn="just"/>
            <a:endParaRPr lang="en-US" sz="2400" b="1" dirty="0">
              <a:solidFill>
                <a:schemeClr val="bg1"/>
              </a:solidFill>
            </a:endParaRPr>
          </a:p>
          <a:p>
            <a:pPr algn="just"/>
            <a:r>
              <a:rPr lang="en-US" sz="2400" b="1" dirty="0">
                <a:solidFill>
                  <a:schemeClr val="bg1"/>
                </a:solidFill>
              </a:rPr>
              <a:t>The primary opportunity lies in balancing loan growth with disciplined risk management. </a:t>
            </a:r>
          </a:p>
          <a:p>
            <a:pPr algn="just"/>
            <a:endParaRPr lang="en-US" sz="2400" b="1" dirty="0">
              <a:solidFill>
                <a:schemeClr val="bg1"/>
              </a:solidFill>
            </a:endParaRPr>
          </a:p>
          <a:p>
            <a:pPr algn="just"/>
            <a:r>
              <a:rPr lang="en-US" sz="2400" b="1" dirty="0">
                <a:solidFill>
                  <a:schemeClr val="bg1"/>
                </a:solidFill>
              </a:rPr>
              <a:t>By strengthening underwriting for higher-risk borrowers, expanding in high-performing markets, and monitoring repayment behavior proactively, the bank improves profitability while reducing future credit losses.</a:t>
            </a:r>
          </a:p>
          <a:p>
            <a:pPr algn="just"/>
            <a:endParaRPr lang="en-US" sz="2400" b="1" dirty="0">
              <a:solidFill>
                <a:schemeClr val="bg1"/>
              </a:solidFill>
            </a:endParaRPr>
          </a:p>
        </p:txBody>
      </p:sp>
      <p:pic>
        <p:nvPicPr>
          <p:cNvPr id="7" name="Picture 6">
            <a:extLst>
              <a:ext uri="{FF2B5EF4-FFF2-40B4-BE49-F238E27FC236}">
                <a16:creationId xmlns:a16="http://schemas.microsoft.com/office/drawing/2014/main" id="{98859F44-E9CD-4CC6-8BE1-D1BA7BE199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63445" y="26988"/>
            <a:ext cx="1014055" cy="1014055"/>
          </a:xfrm>
          <a:prstGeom prst="rect">
            <a:avLst/>
          </a:prstGeom>
        </p:spPr>
      </p:pic>
    </p:spTree>
    <p:extLst>
      <p:ext uri="{BB962C8B-B14F-4D97-AF65-F5344CB8AC3E}">
        <p14:creationId xmlns:p14="http://schemas.microsoft.com/office/powerpoint/2010/main" val="2005916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39D91-9C29-4803-BACE-4F5F97465C70}"/>
              </a:ext>
            </a:extLst>
          </p:cNvPr>
          <p:cNvSpPr>
            <a:spLocks noGrp="1"/>
          </p:cNvSpPr>
          <p:nvPr>
            <p:ph type="title"/>
          </p:nvPr>
        </p:nvSpPr>
        <p:spPr>
          <a:xfrm>
            <a:off x="1866900" y="62884"/>
            <a:ext cx="7353300" cy="611188"/>
          </a:xfrm>
        </p:spPr>
        <p:txBody>
          <a:bodyPr>
            <a:normAutofit fontScale="90000"/>
          </a:bodyPr>
          <a:lstStyle/>
          <a:p>
            <a:pPr algn="ctr"/>
            <a:r>
              <a:rPr lang="en-US" b="1" dirty="0"/>
              <a:t>Recommendation and Conclusion </a:t>
            </a:r>
          </a:p>
        </p:txBody>
      </p:sp>
      <p:sp>
        <p:nvSpPr>
          <p:cNvPr id="4" name="Rectangle: Top Corners Rounded 3">
            <a:extLst>
              <a:ext uri="{FF2B5EF4-FFF2-40B4-BE49-F238E27FC236}">
                <a16:creationId xmlns:a16="http://schemas.microsoft.com/office/drawing/2014/main" id="{DD4787DA-0F15-41E8-B6D6-D7994864DFD5}"/>
              </a:ext>
            </a:extLst>
          </p:cNvPr>
          <p:cNvSpPr/>
          <p:nvPr/>
        </p:nvSpPr>
        <p:spPr>
          <a:xfrm>
            <a:off x="146050" y="870091"/>
            <a:ext cx="11899900" cy="5632310"/>
          </a:xfrm>
          <a:prstGeom prst="round2Same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1BDB3674-6477-4606-802B-D091866221C8}"/>
              </a:ext>
            </a:extLst>
          </p:cNvPr>
          <p:cNvCxnSpPr/>
          <p:nvPr/>
        </p:nvCxnSpPr>
        <p:spPr>
          <a:xfrm>
            <a:off x="571500" y="711200"/>
            <a:ext cx="10439400" cy="0"/>
          </a:xfrm>
          <a:prstGeom prst="line">
            <a:avLst/>
          </a:prstGeom>
          <a:ln w="28575">
            <a:solidFill>
              <a:schemeClr val="bg2">
                <a:lumMod val="10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7A08672-6416-4ACB-BE10-54A728CC01AE}"/>
              </a:ext>
            </a:extLst>
          </p:cNvPr>
          <p:cNvSpPr txBox="1"/>
          <p:nvPr/>
        </p:nvSpPr>
        <p:spPr>
          <a:xfrm>
            <a:off x="571500" y="1070046"/>
            <a:ext cx="11010900" cy="5632311"/>
          </a:xfrm>
          <a:prstGeom prst="rect">
            <a:avLst/>
          </a:prstGeom>
          <a:noFill/>
        </p:spPr>
        <p:txBody>
          <a:bodyPr wrap="square" rtlCol="0">
            <a:spAutoFit/>
          </a:bodyPr>
          <a:lstStyle/>
          <a:p>
            <a:pPr marL="342900" lvl="0" indent="-342900">
              <a:buFont typeface="Wingdings" panose="05000000000000000000" pitchFamily="2" charset="2"/>
              <a:buChar char="Ø"/>
            </a:pPr>
            <a:r>
              <a:rPr lang="en-US" sz="2400" b="1" dirty="0">
                <a:solidFill>
                  <a:schemeClr val="bg1"/>
                </a:solidFill>
              </a:rPr>
              <a:t>Future growth should focus on expanding quality lending, improving risk controls for lower credit grades, and using data-driven customer segmentation to maximize returns while minimizing defaults.</a:t>
            </a:r>
          </a:p>
          <a:p>
            <a:pPr marL="342900" lvl="0" indent="-342900">
              <a:buFont typeface="Wingdings" panose="05000000000000000000" pitchFamily="2" charset="2"/>
              <a:buChar char="Ø"/>
            </a:pPr>
            <a:endParaRPr lang="en-US" sz="2400" b="1" dirty="0">
              <a:solidFill>
                <a:schemeClr val="bg1"/>
              </a:solidFill>
            </a:endParaRPr>
          </a:p>
          <a:p>
            <a:pPr marL="342900" lvl="0" indent="-342900">
              <a:buFont typeface="Wingdings" panose="05000000000000000000" pitchFamily="2" charset="2"/>
              <a:buChar char="Ø"/>
            </a:pPr>
            <a:r>
              <a:rPr lang="en-US" sz="2400" b="1" dirty="0">
                <a:solidFill>
                  <a:schemeClr val="bg1"/>
                </a:solidFill>
              </a:rPr>
              <a:t>Implement Early Warning Monitoring by building automated dashboards to flag customers showing missed payments, high debt-to-income ratios, or declining credit quality </a:t>
            </a:r>
          </a:p>
          <a:p>
            <a:pPr marL="342900" lvl="0" indent="-342900">
              <a:buFont typeface="Wingdings" panose="05000000000000000000" pitchFamily="2" charset="2"/>
              <a:buChar char="Ø"/>
            </a:pPr>
            <a:endParaRPr lang="en-US" sz="2400" b="1" dirty="0">
              <a:solidFill>
                <a:schemeClr val="bg1"/>
              </a:solidFill>
            </a:endParaRPr>
          </a:p>
          <a:p>
            <a:pPr marL="342900" lvl="0" indent="-342900">
              <a:buFont typeface="Wingdings" panose="05000000000000000000" pitchFamily="2" charset="2"/>
              <a:buChar char="Ø"/>
            </a:pPr>
            <a:r>
              <a:rPr lang="en-US" sz="2400" b="1" dirty="0">
                <a:solidFill>
                  <a:schemeClr val="bg1"/>
                </a:solidFill>
              </a:rPr>
              <a:t>Improve customer segmentation by loan purpose, grade, income, employment length, and repayment history. Offer personalized loan products and pricing</a:t>
            </a:r>
          </a:p>
          <a:p>
            <a:pPr marL="342900" lvl="0" indent="-342900">
              <a:buFont typeface="Wingdings" panose="05000000000000000000" pitchFamily="2" charset="2"/>
              <a:buChar char="Ø"/>
            </a:pPr>
            <a:endParaRPr lang="en-US" sz="2400" b="1" dirty="0">
              <a:solidFill>
                <a:schemeClr val="bg1"/>
              </a:solidFill>
            </a:endParaRPr>
          </a:p>
          <a:p>
            <a:pPr marL="342900" lvl="0" indent="-342900">
              <a:buFont typeface="Wingdings" panose="05000000000000000000" pitchFamily="2" charset="2"/>
              <a:buChar char="Ø"/>
            </a:pPr>
            <a:r>
              <a:rPr lang="en-US" sz="2400" b="1" dirty="0">
                <a:solidFill>
                  <a:schemeClr val="bg1"/>
                </a:solidFill>
              </a:rPr>
              <a:t>Optimize debt consolidation products, since debt consolidation drives the largest demand, develop customized repayment plans, financial education, and early intervention for high-risk borrowers</a:t>
            </a:r>
          </a:p>
          <a:p>
            <a:pPr marL="342900" lvl="0" indent="-342900">
              <a:buFont typeface="Wingdings" panose="05000000000000000000" pitchFamily="2" charset="2"/>
              <a:buChar char="Ø"/>
            </a:pPr>
            <a:endParaRPr lang="en-US" sz="2400" b="1" dirty="0">
              <a:solidFill>
                <a:schemeClr val="bg1"/>
              </a:solidFill>
            </a:endParaRPr>
          </a:p>
        </p:txBody>
      </p:sp>
      <p:pic>
        <p:nvPicPr>
          <p:cNvPr id="7" name="Picture 6">
            <a:extLst>
              <a:ext uri="{FF2B5EF4-FFF2-40B4-BE49-F238E27FC236}">
                <a16:creationId xmlns:a16="http://schemas.microsoft.com/office/drawing/2014/main" id="{DEC71295-3D9B-4278-9B5D-FB04CA552B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51373" y="-100936"/>
            <a:ext cx="938828" cy="938828"/>
          </a:xfrm>
          <a:prstGeom prst="rect">
            <a:avLst/>
          </a:prstGeom>
        </p:spPr>
      </p:pic>
    </p:spTree>
    <p:extLst>
      <p:ext uri="{BB962C8B-B14F-4D97-AF65-F5344CB8AC3E}">
        <p14:creationId xmlns:p14="http://schemas.microsoft.com/office/powerpoint/2010/main" val="1471497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39D91-9C29-4803-BACE-4F5F97465C70}"/>
              </a:ext>
            </a:extLst>
          </p:cNvPr>
          <p:cNvSpPr>
            <a:spLocks noGrp="1"/>
          </p:cNvSpPr>
          <p:nvPr>
            <p:ph type="title"/>
          </p:nvPr>
        </p:nvSpPr>
        <p:spPr>
          <a:xfrm>
            <a:off x="1866900" y="62884"/>
            <a:ext cx="7353300" cy="611188"/>
          </a:xfrm>
        </p:spPr>
        <p:txBody>
          <a:bodyPr>
            <a:normAutofit fontScale="90000"/>
          </a:bodyPr>
          <a:lstStyle/>
          <a:p>
            <a:pPr algn="ctr"/>
            <a:r>
              <a:rPr lang="en-US" b="1" dirty="0"/>
              <a:t>Recommendation and Conclusion </a:t>
            </a:r>
          </a:p>
        </p:txBody>
      </p:sp>
      <p:sp>
        <p:nvSpPr>
          <p:cNvPr id="4" name="Rectangle: Top Corners Rounded 3">
            <a:extLst>
              <a:ext uri="{FF2B5EF4-FFF2-40B4-BE49-F238E27FC236}">
                <a16:creationId xmlns:a16="http://schemas.microsoft.com/office/drawing/2014/main" id="{DD4787DA-0F15-41E8-B6D6-D7994864DFD5}"/>
              </a:ext>
            </a:extLst>
          </p:cNvPr>
          <p:cNvSpPr/>
          <p:nvPr/>
        </p:nvSpPr>
        <p:spPr>
          <a:xfrm>
            <a:off x="146050" y="870091"/>
            <a:ext cx="11899900" cy="5632310"/>
          </a:xfrm>
          <a:prstGeom prst="round2Same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1BDB3674-6477-4606-802B-D091866221C8}"/>
              </a:ext>
            </a:extLst>
          </p:cNvPr>
          <p:cNvCxnSpPr/>
          <p:nvPr/>
        </p:nvCxnSpPr>
        <p:spPr>
          <a:xfrm>
            <a:off x="571500" y="711200"/>
            <a:ext cx="10439400" cy="0"/>
          </a:xfrm>
          <a:prstGeom prst="line">
            <a:avLst/>
          </a:prstGeom>
          <a:ln w="28575">
            <a:solidFill>
              <a:schemeClr val="bg2">
                <a:lumMod val="10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7A08672-6416-4ACB-BE10-54A728CC01AE}"/>
              </a:ext>
            </a:extLst>
          </p:cNvPr>
          <p:cNvSpPr txBox="1"/>
          <p:nvPr/>
        </p:nvSpPr>
        <p:spPr>
          <a:xfrm>
            <a:off x="571500" y="1070046"/>
            <a:ext cx="11010900" cy="4893647"/>
          </a:xfrm>
          <a:prstGeom prst="rect">
            <a:avLst/>
          </a:prstGeom>
          <a:noFill/>
        </p:spPr>
        <p:txBody>
          <a:bodyPr wrap="square" rtlCol="0">
            <a:spAutoFit/>
          </a:bodyPr>
          <a:lstStyle/>
          <a:p>
            <a:pPr marL="342900" lvl="0" indent="-342900">
              <a:buFont typeface="Wingdings" panose="05000000000000000000" pitchFamily="2" charset="2"/>
              <a:buChar char="Ø"/>
            </a:pPr>
            <a:r>
              <a:rPr lang="en-US" sz="2400" b="1" dirty="0">
                <a:solidFill>
                  <a:schemeClr val="bg1"/>
                </a:solidFill>
              </a:rPr>
              <a:t>Strengthen risk-based lending by increasing credit assessment requirements for Grades D through G. Use stricter income verification, debt-to-income limits, and repayment history before approval. </a:t>
            </a:r>
          </a:p>
          <a:p>
            <a:pPr marL="342900" lvl="0" indent="-342900">
              <a:buFont typeface="Wingdings" panose="05000000000000000000" pitchFamily="2" charset="2"/>
              <a:buChar char="Ø"/>
            </a:pPr>
            <a:endParaRPr lang="en-US" sz="2400" b="1" dirty="0">
              <a:solidFill>
                <a:schemeClr val="bg1"/>
              </a:solidFill>
            </a:endParaRPr>
          </a:p>
          <a:p>
            <a:pPr marL="342900" lvl="0" indent="-342900">
              <a:buFont typeface="Wingdings" panose="05000000000000000000" pitchFamily="2" charset="2"/>
              <a:buChar char="Ø"/>
            </a:pPr>
            <a:r>
              <a:rPr lang="en-US" sz="2400" b="1" dirty="0">
                <a:solidFill>
                  <a:schemeClr val="bg1"/>
                </a:solidFill>
              </a:rPr>
              <a:t>Expand lending in high performing markets by increasing marketing investment and branch partnerships in high performing states while identifying similar emerging markets</a:t>
            </a:r>
          </a:p>
          <a:p>
            <a:pPr marL="342900" lvl="0" indent="-342900">
              <a:buFont typeface="Wingdings" panose="05000000000000000000" pitchFamily="2" charset="2"/>
              <a:buChar char="Ø"/>
            </a:pPr>
            <a:endParaRPr lang="en-US" sz="2400" b="1" dirty="0">
              <a:solidFill>
                <a:schemeClr val="bg1"/>
              </a:solidFill>
            </a:endParaRPr>
          </a:p>
          <a:p>
            <a:pPr marL="342900" lvl="0" indent="-342900">
              <a:buFont typeface="Wingdings" panose="05000000000000000000" pitchFamily="2" charset="2"/>
              <a:buChar char="Ø"/>
            </a:pPr>
            <a:r>
              <a:rPr lang="en-US" sz="2400" b="1" dirty="0">
                <a:solidFill>
                  <a:schemeClr val="bg1"/>
                </a:solidFill>
              </a:rPr>
              <a:t>Restrict 60 month terms to Grade A-B borrowers with DTI below 15% and income above $60K</a:t>
            </a:r>
          </a:p>
          <a:p>
            <a:pPr lvl="0"/>
            <a:endParaRPr lang="en-US" sz="2400" b="1" dirty="0">
              <a:solidFill>
                <a:schemeClr val="bg1"/>
              </a:solidFill>
            </a:endParaRPr>
          </a:p>
          <a:p>
            <a:pPr marL="342900" lvl="0" indent="-342900">
              <a:buFont typeface="Wingdings" panose="05000000000000000000" pitchFamily="2" charset="2"/>
              <a:buChar char="Ø"/>
            </a:pPr>
            <a:r>
              <a:rPr lang="en-US" sz="2400" b="1" dirty="0">
                <a:solidFill>
                  <a:schemeClr val="bg1"/>
                </a:solidFill>
              </a:rPr>
              <a:t>Flag all debt consolidation loans (47.2% of portfolio, 49.7% of charge-offs) for a 90-day payment behavior review and restrict new originations to DTI below 18%</a:t>
            </a:r>
          </a:p>
        </p:txBody>
      </p:sp>
      <p:pic>
        <p:nvPicPr>
          <p:cNvPr id="7" name="Picture 6">
            <a:extLst>
              <a:ext uri="{FF2B5EF4-FFF2-40B4-BE49-F238E27FC236}">
                <a16:creationId xmlns:a16="http://schemas.microsoft.com/office/drawing/2014/main" id="{DEC71295-3D9B-4278-9B5D-FB04CA552B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51373" y="-100936"/>
            <a:ext cx="938828" cy="938828"/>
          </a:xfrm>
          <a:prstGeom prst="rect">
            <a:avLst/>
          </a:prstGeom>
        </p:spPr>
      </p:pic>
    </p:spTree>
    <p:extLst>
      <p:ext uri="{BB962C8B-B14F-4D97-AF65-F5344CB8AC3E}">
        <p14:creationId xmlns:p14="http://schemas.microsoft.com/office/powerpoint/2010/main" val="1939160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059F567-4F62-43C0-91D4-89F0E35E386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 y="3763468"/>
            <a:ext cx="12063663" cy="3094532"/>
          </a:xfrm>
        </p:spPr>
      </p:pic>
      <p:pic>
        <p:nvPicPr>
          <p:cNvPr id="8" name="Content Placeholder 7">
            <a:extLst>
              <a:ext uri="{FF2B5EF4-FFF2-40B4-BE49-F238E27FC236}">
                <a16:creationId xmlns:a16="http://schemas.microsoft.com/office/drawing/2014/main" id="{4338AC60-1F5E-42A4-8E20-D60A27599DA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0" y="236621"/>
            <a:ext cx="5759115" cy="3429000"/>
          </a:xfrm>
        </p:spPr>
      </p:pic>
      <p:pic>
        <p:nvPicPr>
          <p:cNvPr id="11" name="Picture 10">
            <a:extLst>
              <a:ext uri="{FF2B5EF4-FFF2-40B4-BE49-F238E27FC236}">
                <a16:creationId xmlns:a16="http://schemas.microsoft.com/office/drawing/2014/main" id="{852C079F-5EA1-41EB-AC78-4B43AF670E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19537" y="275282"/>
            <a:ext cx="6144126" cy="3390339"/>
          </a:xfrm>
          <a:prstGeom prst="rect">
            <a:avLst/>
          </a:prstGeom>
        </p:spPr>
      </p:pic>
    </p:spTree>
    <p:extLst>
      <p:ext uri="{BB962C8B-B14F-4D97-AF65-F5344CB8AC3E}">
        <p14:creationId xmlns:p14="http://schemas.microsoft.com/office/powerpoint/2010/main" val="1573502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Top Corners Rounded 3">
            <a:extLst>
              <a:ext uri="{FF2B5EF4-FFF2-40B4-BE49-F238E27FC236}">
                <a16:creationId xmlns:a16="http://schemas.microsoft.com/office/drawing/2014/main" id="{DD4787DA-0F15-41E8-B6D6-D7994864DFD5}"/>
              </a:ext>
            </a:extLst>
          </p:cNvPr>
          <p:cNvSpPr/>
          <p:nvPr/>
        </p:nvSpPr>
        <p:spPr>
          <a:xfrm>
            <a:off x="146050" y="1879600"/>
            <a:ext cx="11899900" cy="3289300"/>
          </a:xfrm>
          <a:prstGeom prst="round2Same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1BDB3674-6477-4606-802B-D091866221C8}"/>
              </a:ext>
            </a:extLst>
          </p:cNvPr>
          <p:cNvCxnSpPr/>
          <p:nvPr/>
        </p:nvCxnSpPr>
        <p:spPr>
          <a:xfrm>
            <a:off x="533400" y="1617555"/>
            <a:ext cx="10439400" cy="0"/>
          </a:xfrm>
          <a:prstGeom prst="line">
            <a:avLst/>
          </a:prstGeom>
          <a:ln w="28575">
            <a:solidFill>
              <a:schemeClr val="bg2">
                <a:lumMod val="10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9A5FC90-5A27-47F1-B254-7AB104179307}"/>
              </a:ext>
            </a:extLst>
          </p:cNvPr>
          <p:cNvSpPr txBox="1"/>
          <p:nvPr/>
        </p:nvSpPr>
        <p:spPr>
          <a:xfrm>
            <a:off x="1955800" y="2463800"/>
            <a:ext cx="7899400" cy="707886"/>
          </a:xfrm>
          <a:prstGeom prst="rect">
            <a:avLst/>
          </a:prstGeom>
          <a:noFill/>
        </p:spPr>
        <p:txBody>
          <a:bodyPr wrap="square" rtlCol="0">
            <a:spAutoFit/>
          </a:bodyPr>
          <a:lstStyle/>
          <a:p>
            <a:pPr algn="ctr"/>
            <a:r>
              <a:rPr lang="en-US" sz="4000" b="1" dirty="0">
                <a:solidFill>
                  <a:schemeClr val="bg1"/>
                </a:solidFill>
              </a:rPr>
              <a:t>THANK YOU FOR YOUR TIME </a:t>
            </a:r>
          </a:p>
        </p:txBody>
      </p:sp>
      <p:pic>
        <p:nvPicPr>
          <p:cNvPr id="7" name="Picture 6">
            <a:extLst>
              <a:ext uri="{FF2B5EF4-FFF2-40B4-BE49-F238E27FC236}">
                <a16:creationId xmlns:a16="http://schemas.microsoft.com/office/drawing/2014/main" id="{E3A3B8F4-9D59-462E-A970-24659FFCCB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2445" y="0"/>
            <a:ext cx="1356955" cy="1356955"/>
          </a:xfrm>
          <a:prstGeom prst="rect">
            <a:avLst/>
          </a:prstGeom>
        </p:spPr>
      </p:pic>
    </p:spTree>
    <p:extLst>
      <p:ext uri="{BB962C8B-B14F-4D97-AF65-F5344CB8AC3E}">
        <p14:creationId xmlns:p14="http://schemas.microsoft.com/office/powerpoint/2010/main" val="1286484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4266</TotalTime>
  <Words>759</Words>
  <Application>Microsoft Office PowerPoint</Application>
  <PresentationFormat>Widescreen</PresentationFormat>
  <Paragraphs>71</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Adobe Fan Heiti Std B</vt:lpstr>
      <vt:lpstr>Adobe Kaiti Std R</vt:lpstr>
      <vt:lpstr>Arial</vt:lpstr>
      <vt:lpstr>Calibri</vt:lpstr>
      <vt:lpstr>Calibri Light</vt:lpstr>
      <vt:lpstr>Wingdings</vt:lpstr>
      <vt:lpstr>Office Theme</vt:lpstr>
      <vt:lpstr>PowerPoint Presentation</vt:lpstr>
      <vt:lpstr>PowerPoint Presentation</vt:lpstr>
      <vt:lpstr>Introduction</vt:lpstr>
      <vt:lpstr>Analysis Objective </vt:lpstr>
      <vt:lpstr>Data and Methodology</vt:lpstr>
      <vt:lpstr>ANALYSIS PRESENTATION           KEY PERFORMANCE INDICATORS  </vt:lpstr>
      <vt:lpstr>ANALYSIS INSIGHTS CONT.</vt:lpstr>
      <vt:lpstr>BUSINESS IMPLICATIONS.</vt:lpstr>
      <vt:lpstr>Summary of Findings </vt:lpstr>
      <vt:lpstr>Recommendation and Conclusion </vt:lpstr>
      <vt:lpstr>Recommendation and Conclusion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Joseph Chinonso Ugwuani</dc:creator>
  <cp:lastModifiedBy>Joseph Chinonso Ugwuani</cp:lastModifiedBy>
  <cp:revision>156</cp:revision>
  <dcterms:created xsi:type="dcterms:W3CDTF">2026-05-02T21:38:55Z</dcterms:created>
  <dcterms:modified xsi:type="dcterms:W3CDTF">2026-06-27T03:57:10Z</dcterms:modified>
</cp:coreProperties>
</file>